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Market TAM — 2025 vs 2030E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 Observability</c:v>
                  </c:pt>
                  <c:pt idx="1">
                    <c:v>AI-Specific Obs.</c:v>
                  </c:pt>
                  <c:pt idx="2">
                    <c:v>Agentic Monitoring (Vex)</c:v>
                  </c:pt>
                  <c:pt idx="3">
                    <c:v>LLM Observability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28500</c:v>
                </c:pt>
                <c:pt idx="1">
                  <c:v>1700</c:v>
                </c:pt>
                <c:pt idx="2">
                  <c:v>550</c:v>
                </c:pt>
                <c:pt idx="3">
                  <c:v>220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2030E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 Observability</c:v>
                  </c:pt>
                  <c:pt idx="1">
                    <c:v>AI-Specific Obs.</c:v>
                  </c:pt>
                  <c:pt idx="2">
                    <c:v>Agentic Monitoring (Vex)</c:v>
                  </c:pt>
                  <c:pt idx="3">
                    <c:v>LLM Observability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172100</c:v>
                </c:pt>
                <c:pt idx="1">
                  <c:v>12500</c:v>
                </c:pt>
                <c:pt idx="2">
                  <c:v>2050</c:v>
                </c:pt>
                <c:pt idx="3">
                  <c:v>820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Total Funding Raised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Funding ($M)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6A08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LangChain</c:v>
                  </c:pt>
                  <c:pt idx="1">
                    <c:v>Galileo AI</c:v>
                  </c:pt>
                  <c:pt idx="2">
                    <c:v>Braintrust</c:v>
                  </c:pt>
                  <c:pt idx="3">
                    <c:v>Langfuse</c:v>
                  </c:pt>
                  <c:pt idx="4">
                    <c:v>Guardrails AI</c:v>
                  </c:pt>
                  <c:pt idx="5">
                    <c:v>Arize/Phoenix</c:v>
                  </c:pt>
                  <c:pt idx="6">
                    <c:v>Vex (N/D)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260</c:v>
                </c:pt>
                <c:pt idx="1">
                  <c:v>68</c:v>
                </c:pt>
                <c:pt idx="2">
                  <c:v>121</c:v>
                </c:pt>
                <c:pt idx="3">
                  <c:v>4.5</c:v>
                </c:pt>
                <c:pt idx="4">
                  <c:v>7.5</c:v>
                </c:pt>
                <c:pt idx="5">
                  <c:v>38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Estimated Headcount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6A08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LangChain</c:v>
                  </c:pt>
                  <c:pt idx="1">
                    <c:v>Galileo AI</c:v>
                  </c:pt>
                  <c:pt idx="2">
                    <c:v>Braintrust</c:v>
                  </c:pt>
                  <c:pt idx="3">
                    <c:v>Langfuse</c:v>
                  </c:pt>
                  <c:pt idx="4">
                    <c:v>Guardrails</c:v>
                  </c:pt>
                  <c:pt idx="5">
                    <c:v>Arize/Phoenix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195</c:v>
                </c:pt>
                <c:pt idx="1">
                  <c:v>142</c:v>
                </c:pt>
                <c:pt idx="2">
                  <c:v>30</c:v>
                </c:pt>
                <c:pt idx="3">
                  <c:v>15</c:v>
                </c:pt>
                <c:pt idx="4">
                  <c:v>10</c:v>
                </c:pt>
                <c:pt idx="5">
                  <c:v>125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Target TAM by Competitor ($M)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TAM ($M)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bubble3D val="0"/>
            <c:spPr>
              <a:solidFill>
                <a:srgbClr val="8E44AD"/>
              </a:solidFill>
              <a:effectLst/>
            </c:spPr>
          </c:dPt>
          <c:dPt>
            <c:idx val="5"/>
            <c:bubble3D val="0"/>
            <c:spPr>
              <a:solidFill>
                <a:srgbClr val="16A085"/>
              </a:solidFill>
              <a:effectLst/>
            </c:spPr>
          </c:dPt>
          <c:dPt>
            <c:idx val="6"/>
            <c:bubble3D val="0"/>
            <c:spPr>
              <a:solidFill>
                <a:srgbClr val="1F386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LangChain/LangSmith</c:v>
                </c:pt>
                <c:pt idx="1">
                  <c:v>Galileo AI</c:v>
                </c:pt>
                <c:pt idx="2">
                  <c:v>Braintrust</c:v>
                </c:pt>
                <c:pt idx="3">
                  <c:v>Langfuse</c:v>
                </c:pt>
                <c:pt idx="4">
                  <c:v>Guardrails AI</c:v>
                </c:pt>
                <c:pt idx="5">
                  <c:v>Arize/Phoenix</c:v>
                </c:pt>
                <c:pt idx="6">
                  <c:v>Vex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1700</c:v>
                </c:pt>
                <c:pt idx="1">
                  <c:v>550</c:v>
                </c:pt>
                <c:pt idx="2">
                  <c:v>550</c:v>
                </c:pt>
                <c:pt idx="3">
                  <c:v>220</c:v>
                </c:pt>
                <c:pt idx="4">
                  <c:v>550</c:v>
                </c:pt>
                <c:pt idx="5">
                  <c:v>1700</c:v>
                </c:pt>
                <c:pt idx="6">
                  <c:v>550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365760"/>
            <a:ext cx="3840480" cy="3840480"/>
          </a:xfrm>
          <a:prstGeom prst="ellipse">
            <a:avLst/>
          </a:prstGeom>
          <a:solidFill>
            <a:srgbClr val="2E75B6">
              <a:alpha val="22000"/>
            </a:srgbClr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3200400"/>
            <a:ext cx="2560320" cy="256032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 &amp; Market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tryvex.dev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50292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3375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$550M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TAM (2025)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33375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4612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CAGR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33375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$499M+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98932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funding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32520" y="33375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73252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Rivals profiled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Mordor Intelligence · Tracxn · Sacra · TechCrunch · LinkedIn · tryvex.dev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5778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26187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2618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 Product Overview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7007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6-check pipeline · 3-layer correction · pricing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5778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188720"/>
            <a:ext cx="64008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26187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78040" y="12618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17007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· CAGR projections to 2030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55778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51760"/>
            <a:ext cx="64008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72491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272491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Profiles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163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Galileo · Braintrust · Langfuse · Guardrails · Arize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651760"/>
            <a:ext cx="55778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2651760"/>
            <a:ext cx="64008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272491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78040" y="272491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3163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capability matrix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55778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14800"/>
            <a:ext cx="64008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418795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25880" y="41879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Headcount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from Excel workbook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4114800"/>
            <a:ext cx="55778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4114800"/>
            <a:ext cx="64008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418795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78040" y="41879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Share &amp; Revenue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7804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+ known ARR comparison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0" y="5577840"/>
            <a:ext cx="5760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5577840"/>
            <a:ext cx="64008" cy="1188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6" name="Text 34"/>
          <p:cNvSpPr/>
          <p:nvPr/>
        </p:nvSpPr>
        <p:spPr>
          <a:xfrm>
            <a:off x="3364992" y="565099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069080" y="565099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Gaps &amp; Advantages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069080" y="608990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Vex wins · where it needs to build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 — Product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394960" cy="539496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Vex Does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reliability layer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AI agent and users in production — detects drift, blocks hallucinations, auto-corrects before users see bad output.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6-check parallel verification pipeline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· Hallucination · Drift · Coherence · Custom guardrails · Tool-loop detection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correction cascade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Surgical repair  →  L2: Constrained regen  →  L3: Full re-prompt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trajectory drift formula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drift_score = min(immediate_relevance, trajectory_drift)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3-line integration  |  ~5 min setup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532120" cy="539496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2801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257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828800"/>
            <a:ext cx="64008" cy="8046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189280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0" y="18928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$0/mo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65392" y="224942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obs · 50 verifications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2761488"/>
            <a:ext cx="5257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761488"/>
            <a:ext cx="64008" cy="80467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282549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0" y="282549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$29/mo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31821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obs · 1K verifications · 100 corrections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3694176"/>
            <a:ext cx="5257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694176"/>
            <a:ext cx="64008" cy="8046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375818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0" y="37581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$99/mo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65392" y="41148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 obs · 15K verifications · Full cascade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4626864"/>
            <a:ext cx="5257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4626864"/>
            <a:ext cx="64008" cy="804672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392" y="46908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61120" y="46908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$349/mo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65392" y="504748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 obs · 150K verifications · Priority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5559552"/>
            <a:ext cx="5257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5559552"/>
            <a:ext cx="64008" cy="8046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1" name="Text 29"/>
          <p:cNvSpPr/>
          <p:nvPr/>
        </p:nvSpPr>
        <p:spPr>
          <a:xfrm>
            <a:off x="6565392" y="5623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0" y="5623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65392" y="598017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limits + SLA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 — TAM / SAM / SOM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188720"/>
            <a:ext cx="4389120" cy="8229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0" y="1234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$550M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498080" y="16459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Monitoring TAM (2025)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06640" y="2157984"/>
            <a:ext cx="4389120" cy="8229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0" y="220370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$2.05B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98080" y="26151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TAM by 2030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06640" y="3127248"/>
            <a:ext cx="4389120" cy="8229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98080" y="3172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5844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CAGR (Mordor Intelligence)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06640" y="4096512"/>
            <a:ext cx="4389120" cy="8229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98080" y="41422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~$275M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98080" y="45537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est. 50% of TAM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06640" y="5065776"/>
            <a:ext cx="4389120" cy="822960"/>
          </a:xfrm>
          <a:prstGeom prst="rect">
            <a:avLst/>
          </a:prstGeom>
          <a:solidFill>
            <a:srgbClr val="1F3864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98080" y="51114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~$27.5M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498080" y="55229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Vex target (10% of SAM)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65760" y="54864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Mordor Intelligence 2025. SAM/SOM are author estimates derived from published market data.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Profiles — Size &amp;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6692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82296" cy="16642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344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LangSmith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636776"/>
            <a:ext cx="53035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$260M raised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$16M ARR  |  $1.25B valuation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~195 employees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 teams (Morningstar, BCG, Microsoft)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56692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143000"/>
            <a:ext cx="82296" cy="1664208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12344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 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64808" y="1636776"/>
            <a:ext cx="53035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$68M raised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N/D (834% YoY growth)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~142 employees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regulated industries (Comcast, Twilio)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53512"/>
            <a:ext cx="56692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53512"/>
            <a:ext cx="82296" cy="16642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04495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447288"/>
            <a:ext cx="53035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$121M raised  |  Series B Feb 2026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N/D  |  ~$800M valuation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11–50 employees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builders (Notion, Stripe, Zapier)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953512"/>
            <a:ext cx="56692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2953512"/>
            <a:ext cx="82296" cy="16642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304495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64808" y="3447288"/>
            <a:ext cx="53035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$4.5M → Acquired by ClickHouse (Jan 2026)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$1.1M ARR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employees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OSS-first developers — 22.9K GitHub stars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764024"/>
            <a:ext cx="56692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764024"/>
            <a:ext cx="82296" cy="16642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85546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5257800"/>
            <a:ext cx="53035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$7.5M seed (Feb 2024)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~$1.1M ARR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employees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 needing structural compliance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764024"/>
            <a:ext cx="566928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4764024"/>
            <a:ext cx="82296" cy="166420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485546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/ Phoenix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64808" y="5257800"/>
            <a:ext cx="53035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~$38M raised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51–200 employees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ML/LLM observability — SOC2 + HIPAA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 Matrix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30000" cy="539496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Braintrust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Trajectory drift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Multi-turn coherence 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/ format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Tool-loop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Auto-correction cascade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output before user sees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tracing / telemetry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management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option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certified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paid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Funding &amp; Headcount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7406640" y="1143000"/>
          <a:ext cx="4572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5303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 headcount &amp; funding undisclosed (shown as 0). Sources: Tracxn · Crunchbase · LinkedIn, March 2026.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TAM Share &amp; Known Revenue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6692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143000"/>
            <a:ext cx="5577840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17043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Revenue / ARR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9360" y="1691640"/>
            <a:ext cx="557784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5"/>
          <p:cNvSpPr/>
          <p:nvPr/>
        </p:nvSpPr>
        <p:spPr>
          <a:xfrm>
            <a:off x="6309360" y="1691640"/>
            <a:ext cx="1097280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6"/>
          <p:cNvSpPr/>
          <p:nvPr/>
        </p:nvSpPr>
        <p:spPr>
          <a:xfrm>
            <a:off x="6473952" y="174650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LangChain/LangSmith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418320" y="17465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$16M ARR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2286000"/>
            <a:ext cx="55778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6309360" y="2286000"/>
            <a:ext cx="109728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234086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418320" y="23408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$1.1M ARR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09360" y="2880360"/>
            <a:ext cx="557784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6309360" y="2880360"/>
            <a:ext cx="109728" cy="502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7" name="Text 14"/>
          <p:cNvSpPr/>
          <p:nvPr/>
        </p:nvSpPr>
        <p:spPr>
          <a:xfrm>
            <a:off x="6473952" y="293522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AI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418320" y="29352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~$1.1M ARR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09360" y="3474720"/>
            <a:ext cx="55778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6309360" y="3474720"/>
            <a:ext cx="109728" cy="50292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1" name="Text 18"/>
          <p:cNvSpPr/>
          <p:nvPr/>
        </p:nvSpPr>
        <p:spPr>
          <a:xfrm>
            <a:off x="6473952" y="352958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 AI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18320" y="35295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N/D (834% growth)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309360" y="4069080"/>
            <a:ext cx="557784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6309360" y="4069080"/>
            <a:ext cx="109728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2"/>
          <p:cNvSpPr/>
          <p:nvPr/>
        </p:nvSpPr>
        <p:spPr>
          <a:xfrm>
            <a:off x="6473952" y="412394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418320" y="41239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309360" y="4663440"/>
            <a:ext cx="55778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6309360" y="4663440"/>
            <a:ext cx="109728" cy="5029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9" name="Text 26"/>
          <p:cNvSpPr/>
          <p:nvPr/>
        </p:nvSpPr>
        <p:spPr>
          <a:xfrm>
            <a:off x="6473952" y="471830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/ Phoenix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418320" y="47183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N/D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09360" y="5257800"/>
            <a:ext cx="557784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29"/>
          <p:cNvSpPr/>
          <p:nvPr/>
        </p:nvSpPr>
        <p:spPr>
          <a:xfrm>
            <a:off x="6309360" y="5257800"/>
            <a:ext cx="109728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3" name="Text 30"/>
          <p:cNvSpPr/>
          <p:nvPr/>
        </p:nvSpPr>
        <p:spPr>
          <a:xfrm>
            <a:off x="6473952" y="531266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418320" y="5312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N/D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65760" y="5852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competitors do not publicly disclose revenue. N/D = Not disclosed.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Gaps &amp; Advantages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94960" cy="53035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5394960" cy="4572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to Address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" y="1764792"/>
            <a:ext cx="201168" cy="20116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099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0025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Langfuse, Braintrust, Galileo have this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2423160"/>
            <a:ext cx="201168" cy="20116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36829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dataset management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66090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Langfuse, Braintrust, LangSmith have this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3081528"/>
            <a:ext cx="201168" cy="20116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0266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evaluators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31927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Galileo's Luna-2 adapts with &lt;50 examples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739896"/>
            <a:ext cx="201168" cy="20116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6850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SOC 2 / HIPAA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39776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enterprise procurement in regulated industries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4398264"/>
            <a:ext cx="201168" cy="20116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343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eval-to-guardrail pipeline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46360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 only — but becoming table stakes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" y="5056632"/>
            <a:ext cx="201168" cy="20116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50017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Undisclosed funding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52943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Rivals have $4.5M–$260M raised; capital risk is real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" y="5715000"/>
            <a:ext cx="201168" cy="20116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6601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proof points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595274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logos or case studies yet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1097280"/>
            <a:ext cx="5577840" cy="53035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1097280"/>
            <a:ext cx="5577840" cy="4572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114300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27648" y="1764792"/>
            <a:ext cx="201168" cy="20116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2" name="Text 30"/>
          <p:cNvSpPr/>
          <p:nvPr/>
        </p:nvSpPr>
        <p:spPr>
          <a:xfrm>
            <a:off x="6601968" y="17099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drift formula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01968" y="200253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min(IR, TD) trajectory scoring — no competitor does this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27648" y="2423160"/>
            <a:ext cx="201168" cy="20116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5" name="Text 33"/>
          <p:cNvSpPr/>
          <p:nvPr/>
        </p:nvSpPr>
        <p:spPr>
          <a:xfrm>
            <a:off x="6601968" y="236829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auto-correction cascade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01968" y="266090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3-layer: repair → constrained regen → full re-prompt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27648" y="3081528"/>
            <a:ext cx="201168" cy="20116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8" name="Text 36"/>
          <p:cNvSpPr/>
          <p:nvPr/>
        </p:nvSpPr>
        <p:spPr>
          <a:xfrm>
            <a:off x="6601968" y="30266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positioning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01968" y="33192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 with LangSmith/Langfuse, avoids head-on conflict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27648" y="3739896"/>
            <a:ext cx="201168" cy="20116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1" name="Text 39"/>
          <p:cNvSpPr/>
          <p:nvPr/>
        </p:nvSpPr>
        <p:spPr>
          <a:xfrm>
            <a:off x="6601968" y="36850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Open-core model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01968" y="39776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+ AGPLv3 mirrors Langfuse's successful playbook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27648" y="4398264"/>
            <a:ext cx="201168" cy="20116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4" name="Text 42"/>
          <p:cNvSpPr/>
          <p:nvPr/>
        </p:nvSpPr>
        <p:spPr>
          <a:xfrm>
            <a:off x="6601968" y="4343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integration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01968" y="463600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lines vs moderate complexity for all competitors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27648" y="5056632"/>
            <a:ext cx="201168" cy="20116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7" name="Text 45"/>
          <p:cNvSpPr/>
          <p:nvPr/>
        </p:nvSpPr>
        <p:spPr>
          <a:xfrm>
            <a:off x="6601968" y="50017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pricing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01968" y="52943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$99/mo vs Braintrust $249/mo — 2.5x cheaper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27648" y="5715000"/>
            <a:ext cx="201168" cy="20116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50" name="Text 48"/>
          <p:cNvSpPr/>
          <p:nvPr/>
        </p:nvSpPr>
        <p:spPr>
          <a:xfrm>
            <a:off x="6601968" y="566013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tailwinds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601968" y="595274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(Aug 2024) + NIST AI RMF driving demand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731520"/>
            <a:ext cx="3657600" cy="36576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29184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35024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325880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 is real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673352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monitoring TAM $550M (2025) -&gt; $2.05B (2030) at 30.1% CAGR. EU AI Act and NIST AI RMF creating structural demand.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329184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59152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2350008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is genuinely novel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69748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implements trajectory-based min(IR, TD) scoring or a 3-layer auto-correction cascade. Estimated 12-24 month technical window.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374136"/>
            <a:ext cx="329184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3374136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competitive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721608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alongside LangSmith / Langfuse (co-sell) rather than against $1.25B+ incumbents — smart for early-stage capital efficiency.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329184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07408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4398264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are known and fixable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4745736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management, dataset management, and SOC 2 are the three fastest paths to unlocking enterprise procurement. Prioritise these.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422392"/>
            <a:ext cx="329184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431536"/>
            <a:ext cx="329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" y="5422392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won't stay open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5769864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 ($68M), Braintrust ($121M), LangChain ($260M) could replicate correction cascade. Speed to market and customer logos are critical.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649224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tryvex.dev  |  Research compiled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Vex — Competitive Intelligence &amp; Market Analysis</dc:title>
  <dc:subject>PptxGenJS Presentation</dc:subject>
  <dc:creator>Research Team</dc:creator>
  <cp:lastModifiedBy>Research Team</cp:lastModifiedBy>
  <cp:revision>1</cp:revision>
  <dcterms:created xsi:type="dcterms:W3CDTF">2026-03-12T20:08:21Z</dcterms:created>
  <dcterms:modified xsi:type="dcterms:W3CDTF">2026-03-12T20:08:21Z</dcterms:modified>
</cp:coreProperties>
</file>