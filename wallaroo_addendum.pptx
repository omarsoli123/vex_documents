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F3864"/>
          </a:solidFill>
          <a:ln/>
        </p:spPr>
      </p:sp>
      <p:sp>
        <p:nvSpPr>
          <p:cNvPr id="3" name="Text 1"/>
          <p:cNvSpPr/>
          <p:nvPr/>
        </p:nvSpPr>
        <p:spPr>
          <a:xfrm>
            <a:off x="457200" y="182880"/>
            <a:ext cx="91440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Wallaroo.AI — Company Profile</a:t>
            </a:r>
            <a:endParaRPr lang="en-US" sz="2800" dirty="0"/>
          </a:p>
        </p:txBody>
      </p:sp>
      <p:sp>
        <p:nvSpPr>
          <p:cNvPr id="4" name="Text 2"/>
          <p:cNvSpPr/>
          <p:nvPr/>
        </p:nvSpPr>
        <p:spPr>
          <a:xfrm>
            <a:off x="9875520" y="292608"/>
            <a:ext cx="2011680" cy="411480"/>
          </a:xfrm>
          <a:prstGeom prst="rect">
            <a:avLst/>
          </a:prstGeom>
          <a:noFill/>
          <a:ln/>
        </p:spPr>
        <p:txBody>
          <a:bodyPr wrap="square" rtlCol="0" anchor="ctr"/>
          <a:lstStyle/>
          <a:p>
            <a:pPr algn="ctr" indent="0" marL="0">
              <a:buNone/>
            </a:pPr>
            <a:r>
              <a:rPr lang="en-US" sz="1100" b="1" dirty="0">
                <a:solidFill>
                  <a:srgbClr val="1F3864"/>
                </a:solidFill>
                <a:latin typeface="Calibri" pitchFamily="34" charset="0"/>
                <a:ea typeface="Calibri" pitchFamily="34" charset="-122"/>
                <a:cs typeface="Calibri" pitchFamily="34" charset="-120"/>
              </a:rPr>
              <a:t>NEW COMPETITOR</a:t>
            </a:r>
            <a:endParaRPr lang="en-US" sz="1100" dirty="0"/>
          </a:p>
        </p:txBody>
      </p:sp>
      <p:sp>
        <p:nvSpPr>
          <p:cNvPr id="5" name="Shape 3"/>
          <p:cNvSpPr/>
          <p:nvPr/>
        </p:nvSpPr>
        <p:spPr>
          <a:xfrm>
            <a:off x="9875520" y="256032"/>
            <a:ext cx="2011680" cy="475488"/>
          </a:xfrm>
          <a:prstGeom prst="rect">
            <a:avLst/>
          </a:prstGeom>
          <a:solidFill>
            <a:srgbClr val="E67E22"/>
          </a:solidFill>
          <a:ln/>
        </p:spPr>
      </p:sp>
      <p:sp>
        <p:nvSpPr>
          <p:cNvPr id="6" name="Text 4"/>
          <p:cNvSpPr/>
          <p:nvPr/>
        </p:nvSpPr>
        <p:spPr>
          <a:xfrm>
            <a:off x="9875520" y="274320"/>
            <a:ext cx="2011680" cy="43891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NEW PROFILE</a:t>
            </a:r>
            <a:endParaRPr lang="en-US" sz="1100" dirty="0"/>
          </a:p>
        </p:txBody>
      </p:sp>
      <p:sp>
        <p:nvSpPr>
          <p:cNvPr id="7" name="Shape 5"/>
          <p:cNvSpPr/>
          <p:nvPr/>
        </p:nvSpPr>
        <p:spPr>
          <a:xfrm>
            <a:off x="365760" y="1143000"/>
            <a:ext cx="2743200" cy="804672"/>
          </a:xfrm>
          <a:prstGeom prst="rect">
            <a:avLst/>
          </a:prstGeom>
          <a:solidFill>
            <a:srgbClr val="EFF6FF"/>
          </a:solidFill>
          <a:ln/>
          <a:effectLst>
            <a:outerShdw sx="100000" sy="100000" kx="0" ky="0" algn="bl" rotWithShape="0" blurRad="63500" dist="25400" dir="8100000">
              <a:srgbClr val="000000">
                <a:alpha val="10000"/>
              </a:srgbClr>
            </a:outerShdw>
          </a:effectLst>
        </p:spPr>
      </p:sp>
      <p:sp>
        <p:nvSpPr>
          <p:cNvPr id="8" name="Text 6"/>
          <p:cNvSpPr/>
          <p:nvPr/>
        </p:nvSpPr>
        <p:spPr>
          <a:xfrm>
            <a:off x="475488" y="118872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Founded</a:t>
            </a:r>
            <a:endParaRPr lang="en-US" sz="1000" dirty="0"/>
          </a:p>
        </p:txBody>
      </p:sp>
      <p:sp>
        <p:nvSpPr>
          <p:cNvPr id="9" name="Text 7"/>
          <p:cNvSpPr/>
          <p:nvPr/>
        </p:nvSpPr>
        <p:spPr>
          <a:xfrm>
            <a:off x="475488" y="149047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2017</a:t>
            </a:r>
            <a:endParaRPr lang="en-US" sz="1300" dirty="0"/>
          </a:p>
        </p:txBody>
      </p:sp>
      <p:sp>
        <p:nvSpPr>
          <p:cNvPr id="10" name="Shape 8"/>
          <p:cNvSpPr/>
          <p:nvPr/>
        </p:nvSpPr>
        <p:spPr>
          <a:xfrm>
            <a:off x="3246120" y="1143000"/>
            <a:ext cx="2743200" cy="804672"/>
          </a:xfrm>
          <a:prstGeom prst="rect">
            <a:avLst/>
          </a:prstGeom>
          <a:solidFill>
            <a:srgbClr val="F4F6FA"/>
          </a:solidFill>
          <a:ln/>
          <a:effectLst>
            <a:outerShdw sx="100000" sy="100000" kx="0" ky="0" algn="bl" rotWithShape="0" blurRad="63500" dist="25400" dir="8100000">
              <a:srgbClr val="000000">
                <a:alpha val="10000"/>
              </a:srgbClr>
            </a:outerShdw>
          </a:effectLst>
        </p:spPr>
      </p:sp>
      <p:sp>
        <p:nvSpPr>
          <p:cNvPr id="11" name="Text 9"/>
          <p:cNvSpPr/>
          <p:nvPr/>
        </p:nvSpPr>
        <p:spPr>
          <a:xfrm>
            <a:off x="3355848" y="118872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HQ</a:t>
            </a:r>
            <a:endParaRPr lang="en-US" sz="1000" dirty="0"/>
          </a:p>
        </p:txBody>
      </p:sp>
      <p:sp>
        <p:nvSpPr>
          <p:cNvPr id="12" name="Text 10"/>
          <p:cNvSpPr/>
          <p:nvPr/>
        </p:nvSpPr>
        <p:spPr>
          <a:xfrm>
            <a:off x="3355848" y="149047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Brooklyn / NYC</a:t>
            </a:r>
            <a:endParaRPr lang="en-US" sz="1300" dirty="0"/>
          </a:p>
        </p:txBody>
      </p:sp>
      <p:sp>
        <p:nvSpPr>
          <p:cNvPr id="13" name="Shape 11"/>
          <p:cNvSpPr/>
          <p:nvPr/>
        </p:nvSpPr>
        <p:spPr>
          <a:xfrm>
            <a:off x="365760" y="2103120"/>
            <a:ext cx="2743200" cy="804672"/>
          </a:xfrm>
          <a:prstGeom prst="rect">
            <a:avLst/>
          </a:prstGeom>
          <a:solidFill>
            <a:srgbClr val="EFF6FF"/>
          </a:solidFill>
          <a:ln/>
          <a:effectLst>
            <a:outerShdw sx="100000" sy="100000" kx="0" ky="0" algn="bl" rotWithShape="0" blurRad="63500" dist="25400" dir="8100000">
              <a:srgbClr val="000000">
                <a:alpha val="10000"/>
              </a:srgbClr>
            </a:outerShdw>
          </a:effectLst>
        </p:spPr>
      </p:sp>
      <p:sp>
        <p:nvSpPr>
          <p:cNvPr id="14" name="Text 12"/>
          <p:cNvSpPr/>
          <p:nvPr/>
        </p:nvSpPr>
        <p:spPr>
          <a:xfrm>
            <a:off x="475488" y="214884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Employees</a:t>
            </a:r>
            <a:endParaRPr lang="en-US" sz="1000" dirty="0"/>
          </a:p>
        </p:txBody>
      </p:sp>
      <p:sp>
        <p:nvSpPr>
          <p:cNvPr id="15" name="Text 13"/>
          <p:cNvSpPr/>
          <p:nvPr/>
        </p:nvSpPr>
        <p:spPr>
          <a:xfrm>
            <a:off x="475488" y="245059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~43</a:t>
            </a:r>
            <a:endParaRPr lang="en-US" sz="1300" dirty="0"/>
          </a:p>
        </p:txBody>
      </p:sp>
      <p:sp>
        <p:nvSpPr>
          <p:cNvPr id="16" name="Shape 14"/>
          <p:cNvSpPr/>
          <p:nvPr/>
        </p:nvSpPr>
        <p:spPr>
          <a:xfrm>
            <a:off x="3246120" y="2103120"/>
            <a:ext cx="2743200" cy="804672"/>
          </a:xfrm>
          <a:prstGeom prst="rect">
            <a:avLst/>
          </a:prstGeom>
          <a:solidFill>
            <a:srgbClr val="F4F6FA"/>
          </a:solidFill>
          <a:ln/>
          <a:effectLst>
            <a:outerShdw sx="100000" sy="100000" kx="0" ky="0" algn="bl" rotWithShape="0" blurRad="63500" dist="25400" dir="8100000">
              <a:srgbClr val="000000">
                <a:alpha val="10000"/>
              </a:srgbClr>
            </a:outerShdw>
          </a:effectLst>
        </p:spPr>
      </p:sp>
      <p:sp>
        <p:nvSpPr>
          <p:cNvPr id="17" name="Text 15"/>
          <p:cNvSpPr/>
          <p:nvPr/>
        </p:nvSpPr>
        <p:spPr>
          <a:xfrm>
            <a:off x="3355848" y="214884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Total Funding</a:t>
            </a:r>
            <a:endParaRPr lang="en-US" sz="1000" dirty="0"/>
          </a:p>
        </p:txBody>
      </p:sp>
      <p:sp>
        <p:nvSpPr>
          <p:cNvPr id="18" name="Text 16"/>
          <p:cNvSpPr/>
          <p:nvPr/>
        </p:nvSpPr>
        <p:spPr>
          <a:xfrm>
            <a:off x="3355848" y="245059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$34.4M</a:t>
            </a:r>
            <a:endParaRPr lang="en-US" sz="1300" dirty="0"/>
          </a:p>
        </p:txBody>
      </p:sp>
      <p:sp>
        <p:nvSpPr>
          <p:cNvPr id="19" name="Shape 17"/>
          <p:cNvSpPr/>
          <p:nvPr/>
        </p:nvSpPr>
        <p:spPr>
          <a:xfrm>
            <a:off x="365760" y="3063240"/>
            <a:ext cx="2743200" cy="804672"/>
          </a:xfrm>
          <a:prstGeom prst="rect">
            <a:avLst/>
          </a:prstGeom>
          <a:solidFill>
            <a:srgbClr val="EFF6FF"/>
          </a:solidFill>
          <a:ln/>
          <a:effectLst>
            <a:outerShdw sx="100000" sy="100000" kx="0" ky="0" algn="bl" rotWithShape="0" blurRad="63500" dist="25400" dir="8100000">
              <a:srgbClr val="000000">
                <a:alpha val="10000"/>
              </a:srgbClr>
            </a:outerShdw>
          </a:effectLst>
        </p:spPr>
      </p:sp>
      <p:sp>
        <p:nvSpPr>
          <p:cNvPr id="20" name="Text 18"/>
          <p:cNvSpPr/>
          <p:nvPr/>
        </p:nvSpPr>
        <p:spPr>
          <a:xfrm>
            <a:off x="475488" y="310896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Largest Round</a:t>
            </a:r>
            <a:endParaRPr lang="en-US" sz="1000" dirty="0"/>
          </a:p>
        </p:txBody>
      </p:sp>
      <p:sp>
        <p:nvSpPr>
          <p:cNvPr id="21" name="Text 19"/>
          <p:cNvSpPr/>
          <p:nvPr/>
        </p:nvSpPr>
        <p:spPr>
          <a:xfrm>
            <a:off x="475488" y="341071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$25M Series A</a:t>
            </a:r>
            <a:endParaRPr lang="en-US" sz="1300" dirty="0"/>
          </a:p>
        </p:txBody>
      </p:sp>
      <p:sp>
        <p:nvSpPr>
          <p:cNvPr id="22" name="Shape 20"/>
          <p:cNvSpPr/>
          <p:nvPr/>
        </p:nvSpPr>
        <p:spPr>
          <a:xfrm>
            <a:off x="3246120" y="3063240"/>
            <a:ext cx="2743200" cy="804672"/>
          </a:xfrm>
          <a:prstGeom prst="rect">
            <a:avLst/>
          </a:prstGeom>
          <a:solidFill>
            <a:srgbClr val="F4F6FA"/>
          </a:solidFill>
          <a:ln/>
          <a:effectLst>
            <a:outerShdw sx="100000" sy="100000" kx="0" ky="0" algn="bl" rotWithShape="0" blurRad="63500" dist="25400" dir="8100000">
              <a:srgbClr val="000000">
                <a:alpha val="10000"/>
              </a:srgbClr>
            </a:outerShdw>
          </a:effectLst>
        </p:spPr>
      </p:sp>
      <p:sp>
        <p:nvSpPr>
          <p:cNvPr id="23" name="Text 21"/>
          <p:cNvSpPr/>
          <p:nvPr/>
        </p:nvSpPr>
        <p:spPr>
          <a:xfrm>
            <a:off x="3355848" y="310896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Lead Investor</a:t>
            </a:r>
            <a:endParaRPr lang="en-US" sz="1000" dirty="0"/>
          </a:p>
        </p:txBody>
      </p:sp>
      <p:sp>
        <p:nvSpPr>
          <p:cNvPr id="24" name="Text 22"/>
          <p:cNvSpPr/>
          <p:nvPr/>
        </p:nvSpPr>
        <p:spPr>
          <a:xfrm>
            <a:off x="3355848" y="341071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M12 (Microsoft)</a:t>
            </a:r>
            <a:endParaRPr lang="en-US" sz="1300" dirty="0"/>
          </a:p>
        </p:txBody>
      </p:sp>
      <p:sp>
        <p:nvSpPr>
          <p:cNvPr id="25" name="Shape 23"/>
          <p:cNvSpPr/>
          <p:nvPr/>
        </p:nvSpPr>
        <p:spPr>
          <a:xfrm>
            <a:off x="365760" y="4023360"/>
            <a:ext cx="2743200" cy="804672"/>
          </a:xfrm>
          <a:prstGeom prst="rect">
            <a:avLst/>
          </a:prstGeom>
          <a:solidFill>
            <a:srgbClr val="EFF6FF"/>
          </a:solidFill>
          <a:ln/>
          <a:effectLst>
            <a:outerShdw sx="100000" sy="100000" kx="0" ky="0" algn="bl" rotWithShape="0" blurRad="63500" dist="25400" dir="8100000">
              <a:srgbClr val="000000">
                <a:alpha val="10000"/>
              </a:srgbClr>
            </a:outerShdw>
          </a:effectLst>
        </p:spPr>
      </p:sp>
      <p:sp>
        <p:nvSpPr>
          <p:cNvPr id="26" name="Text 24"/>
          <p:cNvSpPr/>
          <p:nvPr/>
        </p:nvSpPr>
        <p:spPr>
          <a:xfrm>
            <a:off x="475488" y="406908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Stage</a:t>
            </a:r>
            <a:endParaRPr lang="en-US" sz="1000" dirty="0"/>
          </a:p>
        </p:txBody>
      </p:sp>
      <p:sp>
        <p:nvSpPr>
          <p:cNvPr id="27" name="Text 25"/>
          <p:cNvSpPr/>
          <p:nvPr/>
        </p:nvSpPr>
        <p:spPr>
          <a:xfrm>
            <a:off x="475488" y="437083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Series A (Jul 2024)</a:t>
            </a:r>
            <a:endParaRPr lang="en-US" sz="1300" dirty="0"/>
          </a:p>
        </p:txBody>
      </p:sp>
      <p:sp>
        <p:nvSpPr>
          <p:cNvPr id="28" name="Shape 26"/>
          <p:cNvSpPr/>
          <p:nvPr/>
        </p:nvSpPr>
        <p:spPr>
          <a:xfrm>
            <a:off x="3246120" y="4023360"/>
            <a:ext cx="2743200" cy="804672"/>
          </a:xfrm>
          <a:prstGeom prst="rect">
            <a:avLst/>
          </a:prstGeom>
          <a:solidFill>
            <a:srgbClr val="F4F6FA"/>
          </a:solidFill>
          <a:ln/>
          <a:effectLst>
            <a:outerShdw sx="100000" sy="100000" kx="0" ky="0" algn="bl" rotWithShape="0" blurRad="63500" dist="25400" dir="8100000">
              <a:srgbClr val="000000">
                <a:alpha val="10000"/>
              </a:srgbClr>
            </a:outerShdw>
          </a:effectLst>
        </p:spPr>
      </p:sp>
      <p:sp>
        <p:nvSpPr>
          <p:cNvPr id="29" name="Text 27"/>
          <p:cNvSpPr/>
          <p:nvPr/>
        </p:nvSpPr>
        <p:spPr>
          <a:xfrm>
            <a:off x="3355848" y="4069080"/>
            <a:ext cx="2514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Gov Contracts</a:t>
            </a:r>
            <a:endParaRPr lang="en-US" sz="1000" dirty="0"/>
          </a:p>
        </p:txBody>
      </p:sp>
      <p:sp>
        <p:nvSpPr>
          <p:cNvPr id="30" name="Text 28"/>
          <p:cNvSpPr/>
          <p:nvPr/>
        </p:nvSpPr>
        <p:spPr>
          <a:xfrm>
            <a:off x="3355848" y="4370832"/>
            <a:ext cx="2514600" cy="34747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USAF + Space Force</a:t>
            </a:r>
            <a:endParaRPr lang="en-US" sz="1300" dirty="0"/>
          </a:p>
        </p:txBody>
      </p:sp>
      <p:sp>
        <p:nvSpPr>
          <p:cNvPr id="31" name="Shape 29"/>
          <p:cNvSpPr/>
          <p:nvPr/>
        </p:nvSpPr>
        <p:spPr>
          <a:xfrm>
            <a:off x="6217920" y="1143000"/>
            <a:ext cx="5577840" cy="5303520"/>
          </a:xfrm>
          <a:prstGeom prst="rect">
            <a:avLst/>
          </a:prstGeom>
          <a:solidFill>
            <a:srgbClr val="F4F6FA"/>
          </a:solidFill>
          <a:ln/>
        </p:spPr>
      </p:sp>
      <p:sp>
        <p:nvSpPr>
          <p:cNvPr id="32" name="Text 30"/>
          <p:cNvSpPr/>
          <p:nvPr/>
        </p:nvSpPr>
        <p:spPr>
          <a:xfrm>
            <a:off x="6355080" y="1261872"/>
            <a:ext cx="5303520" cy="365760"/>
          </a:xfrm>
          <a:prstGeom prst="rect">
            <a:avLst/>
          </a:prstGeom>
          <a:noFill/>
          <a:ln/>
        </p:spPr>
        <p:txBody>
          <a:bodyPr wrap="square"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What Wallaroo Does</a:t>
            </a:r>
            <a:endParaRPr lang="en-US" sz="1500" dirty="0"/>
          </a:p>
        </p:txBody>
      </p:sp>
      <p:sp>
        <p:nvSpPr>
          <p:cNvPr id="33" name="Text 31"/>
          <p:cNvSpPr/>
          <p:nvPr/>
        </p:nvSpPr>
        <p:spPr>
          <a:xfrm>
            <a:off x="6355080" y="1719072"/>
            <a:ext cx="5303520" cy="4572000"/>
          </a:xfrm>
          <a:prstGeom prst="rect">
            <a:avLst/>
          </a:prstGeom>
          <a:noFill/>
          <a:ln/>
        </p:spPr>
        <p:txBody>
          <a:bodyPr wrap="square" rtlCol="0" anchor="ctr"/>
          <a:lstStyle/>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Unified AI Orchestration Platform</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Deploy, serve, observe &amp; manage AI at scale — any model, any hardware, anywhere.</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 </a:t>
            </a:r>
            <a:endParaRPr lang="en-US" sz="1100" dirty="0"/>
          </a:p>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Rust-based inference engine</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2x–10x CPU/GPU performance. Smart batching, autoscaling, load balancing.</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 </a:t>
            </a:r>
            <a:endParaRPr lang="en-US" sz="1100" dirty="0"/>
          </a:p>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AI Hub (Control Plane)</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Centralized monitoring, lifecycle management, workflow automation.</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 </a:t>
            </a:r>
            <a:endParaRPr lang="en-US" sz="1100" dirty="0"/>
          </a:p>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Hardware breadth</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x86 · Arm · GPU · IBM Power · Cloud · On-prem · Edge · Air-gapped</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 </a:t>
            </a:r>
            <a:endParaRPr lang="en-US" sz="1100" dirty="0"/>
          </a:p>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Published customers</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Fortune 100, PubMatic, USAF (DoD STTR Phase II), US Space Force SDA TAP Lab</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 </a:t>
            </a:r>
            <a:endParaRPr lang="en-US" sz="1100" dirty="0"/>
          </a:p>
          <a:p>
            <a:pPr marL="342900" indent="-342900">
              <a:spcAft>
                <a:spcPts val="200"/>
              </a:spcAft>
              <a:buSzPct val="100000"/>
              <a:buChar char="•"/>
            </a:pPr>
            <a:r>
              <a:rPr lang="en-US" sz="1100" b="1" dirty="0">
                <a:solidFill>
                  <a:srgbClr val="1E293B"/>
                </a:solidFill>
                <a:latin typeface="Calibri" pitchFamily="34" charset="0"/>
                <a:ea typeface="Calibri" pitchFamily="34" charset="-122"/>
                <a:cs typeface="Calibri" pitchFamily="34" charset="-120"/>
              </a:rPr>
              <a:t>Key claims</a:t>
            </a:r>
            <a:endParaRPr lang="en-US" sz="1100" dirty="0"/>
          </a:p>
          <a:p>
            <a:pPr indent="0" marL="0">
              <a:spcAft>
                <a:spcPts val="200"/>
              </a:spcAft>
              <a:buNone/>
            </a:pPr>
            <a:r>
              <a:rPr lang="en-US" sz="1100" dirty="0">
                <a:solidFill>
                  <a:srgbClr val="1E293B"/>
                </a:solidFill>
                <a:latin typeface="Calibri" pitchFamily="34" charset="0"/>
                <a:ea typeface="Calibri" pitchFamily="34" charset="-122"/>
                <a:cs typeface="Calibri" pitchFamily="34" charset="-120"/>
              </a:rPr>
              <a:t>4–6x faster time-to-value · 80% less infra · Frees 40% of AI team time</a:t>
            </a:r>
            <a:endParaRPr lang="en-US" sz="1100" dirty="0"/>
          </a:p>
        </p:txBody>
      </p:sp>
      <p:sp>
        <p:nvSpPr>
          <p:cNvPr id="34" name="Text 32"/>
          <p:cNvSpPr/>
          <p:nvPr/>
        </p:nvSpPr>
        <p:spPr>
          <a:xfrm>
            <a:off x="365760" y="6492240"/>
            <a:ext cx="11430000" cy="256032"/>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Sources: wallaroo.ai · Tracxn · PitchBook · Crunchbase · ZoomInfo, March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F3864"/>
          </a:solidFill>
          <a:ln/>
        </p:spPr>
      </p:sp>
      <p:sp>
        <p:nvSpPr>
          <p:cNvPr id="3" name="Text 1"/>
          <p:cNvSpPr/>
          <p:nvPr/>
        </p:nvSpPr>
        <p:spPr>
          <a:xfrm>
            <a:off x="457200" y="182880"/>
            <a:ext cx="109728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Wallaroo.AI — Funding History &amp; Investors</a:t>
            </a:r>
            <a:endParaRPr lang="en-US" sz="2800" dirty="0"/>
          </a:p>
        </p:txBody>
      </p:sp>
      <p:sp>
        <p:nvSpPr>
          <p:cNvPr id="4" name="Shape 2"/>
          <p:cNvSpPr/>
          <p:nvPr/>
        </p:nvSpPr>
        <p:spPr>
          <a:xfrm>
            <a:off x="365760" y="1097280"/>
            <a:ext cx="11430000" cy="749808"/>
          </a:xfrm>
          <a:prstGeom prst="rect">
            <a:avLst/>
          </a:prstGeom>
          <a:solidFill>
            <a:srgbClr val="F4F6FA"/>
          </a:solidFill>
          <a:ln/>
        </p:spPr>
      </p:sp>
      <p:sp>
        <p:nvSpPr>
          <p:cNvPr id="5" name="Shape 3"/>
          <p:cNvSpPr/>
          <p:nvPr/>
        </p:nvSpPr>
        <p:spPr>
          <a:xfrm>
            <a:off x="365760" y="1097280"/>
            <a:ext cx="73152" cy="749808"/>
          </a:xfrm>
          <a:prstGeom prst="rect">
            <a:avLst/>
          </a:prstGeom>
          <a:solidFill>
            <a:srgbClr val="94A3B8"/>
          </a:solidFill>
          <a:ln/>
        </p:spPr>
      </p:sp>
      <p:sp>
        <p:nvSpPr>
          <p:cNvPr id="6" name="Text 4"/>
          <p:cNvSpPr/>
          <p:nvPr/>
        </p:nvSpPr>
        <p:spPr>
          <a:xfrm>
            <a:off x="548640" y="1188720"/>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Jul 2017</a:t>
            </a:r>
            <a:endParaRPr lang="en-US" sz="1000" dirty="0"/>
          </a:p>
        </p:txBody>
      </p:sp>
      <p:sp>
        <p:nvSpPr>
          <p:cNvPr id="7" name="Text 5"/>
          <p:cNvSpPr/>
          <p:nvPr/>
        </p:nvSpPr>
        <p:spPr>
          <a:xfrm>
            <a:off x="2011680" y="1170432"/>
            <a:ext cx="1828800" cy="310896"/>
          </a:xfrm>
          <a:prstGeom prst="rect">
            <a:avLst/>
          </a:prstGeom>
          <a:noFill/>
          <a:ln/>
        </p:spPr>
        <p:txBody>
          <a:bodyPr wrap="square"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Seed</a:t>
            </a:r>
            <a:endParaRPr lang="en-US" sz="1300" dirty="0"/>
          </a:p>
        </p:txBody>
      </p:sp>
      <p:sp>
        <p:nvSpPr>
          <p:cNvPr id="8" name="Text 6"/>
          <p:cNvSpPr/>
          <p:nvPr/>
        </p:nvSpPr>
        <p:spPr>
          <a:xfrm>
            <a:off x="3931920" y="1170432"/>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~$1M</a:t>
            </a:r>
            <a:endParaRPr lang="en-US" sz="1300" dirty="0"/>
          </a:p>
        </p:txBody>
      </p:sp>
      <p:sp>
        <p:nvSpPr>
          <p:cNvPr id="9" name="Text 7"/>
          <p:cNvSpPr/>
          <p:nvPr/>
        </p:nvSpPr>
        <p:spPr>
          <a:xfrm>
            <a:off x="5486400" y="1170432"/>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Boldstart Ventures, Resolute Ventures</a:t>
            </a:r>
            <a:endParaRPr lang="en-US" sz="1100" dirty="0"/>
          </a:p>
        </p:txBody>
      </p:sp>
      <p:sp>
        <p:nvSpPr>
          <p:cNvPr id="10" name="Shape 8"/>
          <p:cNvSpPr/>
          <p:nvPr/>
        </p:nvSpPr>
        <p:spPr>
          <a:xfrm>
            <a:off x="365760" y="1993392"/>
            <a:ext cx="11430000" cy="749808"/>
          </a:xfrm>
          <a:prstGeom prst="rect">
            <a:avLst/>
          </a:prstGeom>
          <a:solidFill>
            <a:srgbClr val="FFFFFF"/>
          </a:solidFill>
          <a:ln/>
        </p:spPr>
      </p:sp>
      <p:sp>
        <p:nvSpPr>
          <p:cNvPr id="11" name="Shape 9"/>
          <p:cNvSpPr/>
          <p:nvPr/>
        </p:nvSpPr>
        <p:spPr>
          <a:xfrm>
            <a:off x="365760" y="1993392"/>
            <a:ext cx="73152" cy="749808"/>
          </a:xfrm>
          <a:prstGeom prst="rect">
            <a:avLst/>
          </a:prstGeom>
          <a:solidFill>
            <a:srgbClr val="64748B"/>
          </a:solidFill>
          <a:ln/>
        </p:spPr>
      </p:sp>
      <p:sp>
        <p:nvSpPr>
          <p:cNvPr id="12" name="Text 10"/>
          <p:cNvSpPr/>
          <p:nvPr/>
        </p:nvSpPr>
        <p:spPr>
          <a:xfrm>
            <a:off x="548640" y="2084832"/>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2018–2020</a:t>
            </a:r>
            <a:endParaRPr lang="en-US" sz="1000" dirty="0"/>
          </a:p>
        </p:txBody>
      </p:sp>
      <p:sp>
        <p:nvSpPr>
          <p:cNvPr id="13" name="Text 11"/>
          <p:cNvSpPr/>
          <p:nvPr/>
        </p:nvSpPr>
        <p:spPr>
          <a:xfrm>
            <a:off x="2011680" y="2066544"/>
            <a:ext cx="1828800" cy="310896"/>
          </a:xfrm>
          <a:prstGeom prst="rect">
            <a:avLst/>
          </a:prstGeom>
          <a:noFill/>
          <a:ln/>
        </p:spPr>
        <p:txBody>
          <a:bodyPr wrap="square"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Seed II + III</a:t>
            </a:r>
            <a:endParaRPr lang="en-US" sz="1300" dirty="0"/>
          </a:p>
        </p:txBody>
      </p:sp>
      <p:sp>
        <p:nvSpPr>
          <p:cNvPr id="14" name="Text 12"/>
          <p:cNvSpPr/>
          <p:nvPr/>
        </p:nvSpPr>
        <p:spPr>
          <a:xfrm>
            <a:off x="3931920" y="2066544"/>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~$7M</a:t>
            </a:r>
            <a:endParaRPr lang="en-US" sz="1300" dirty="0"/>
          </a:p>
        </p:txBody>
      </p:sp>
      <p:sp>
        <p:nvSpPr>
          <p:cNvPr id="15" name="Text 13"/>
          <p:cNvSpPr/>
          <p:nvPr/>
        </p:nvSpPr>
        <p:spPr>
          <a:xfrm>
            <a:off x="5486400" y="2066544"/>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Eniac Ventures, Contour Venture Partners, Greycroft</a:t>
            </a:r>
            <a:endParaRPr lang="en-US" sz="1100" dirty="0"/>
          </a:p>
        </p:txBody>
      </p:sp>
      <p:sp>
        <p:nvSpPr>
          <p:cNvPr id="16" name="Shape 14"/>
          <p:cNvSpPr/>
          <p:nvPr/>
        </p:nvSpPr>
        <p:spPr>
          <a:xfrm>
            <a:off x="365760" y="2889504"/>
            <a:ext cx="11430000" cy="749808"/>
          </a:xfrm>
          <a:prstGeom prst="rect">
            <a:avLst/>
          </a:prstGeom>
          <a:solidFill>
            <a:srgbClr val="F4F6FA"/>
          </a:solidFill>
          <a:ln/>
          <a:effectLst>
            <a:outerShdw sx="100000" sy="100000" kx="0" ky="0" algn="bl" rotWithShape="0" blurRad="63500" dist="25400" dir="8100000">
              <a:srgbClr val="000000">
                <a:alpha val="10000"/>
              </a:srgbClr>
            </a:outerShdw>
          </a:effectLst>
        </p:spPr>
      </p:sp>
      <p:sp>
        <p:nvSpPr>
          <p:cNvPr id="17" name="Shape 15"/>
          <p:cNvSpPr/>
          <p:nvPr/>
        </p:nvSpPr>
        <p:spPr>
          <a:xfrm>
            <a:off x="365760" y="2889504"/>
            <a:ext cx="73152" cy="749808"/>
          </a:xfrm>
          <a:prstGeom prst="rect">
            <a:avLst/>
          </a:prstGeom>
          <a:solidFill>
            <a:srgbClr val="2E75B6"/>
          </a:solidFill>
          <a:ln/>
        </p:spPr>
      </p:sp>
      <p:sp>
        <p:nvSpPr>
          <p:cNvPr id="18" name="Text 16"/>
          <p:cNvSpPr/>
          <p:nvPr/>
        </p:nvSpPr>
        <p:spPr>
          <a:xfrm>
            <a:off x="548640" y="2980944"/>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Feb 2022</a:t>
            </a:r>
            <a:endParaRPr lang="en-US" sz="1000" dirty="0"/>
          </a:p>
        </p:txBody>
      </p:sp>
      <p:sp>
        <p:nvSpPr>
          <p:cNvPr id="19" name="Text 17"/>
          <p:cNvSpPr/>
          <p:nvPr/>
        </p:nvSpPr>
        <p:spPr>
          <a:xfrm>
            <a:off x="2011680" y="2962656"/>
            <a:ext cx="1828800" cy="310896"/>
          </a:xfrm>
          <a:prstGeom prst="rect">
            <a:avLst/>
          </a:prstGeom>
          <a:noFill/>
          <a:ln/>
        </p:spPr>
        <p:txBody>
          <a:bodyPr wrap="square"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Series A</a:t>
            </a:r>
            <a:endParaRPr lang="en-US" sz="1300" dirty="0"/>
          </a:p>
        </p:txBody>
      </p:sp>
      <p:sp>
        <p:nvSpPr>
          <p:cNvPr id="20" name="Text 18"/>
          <p:cNvSpPr/>
          <p:nvPr/>
        </p:nvSpPr>
        <p:spPr>
          <a:xfrm>
            <a:off x="3931920" y="2962656"/>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$25M</a:t>
            </a:r>
            <a:endParaRPr lang="en-US" sz="1300" dirty="0"/>
          </a:p>
        </p:txBody>
      </p:sp>
      <p:sp>
        <p:nvSpPr>
          <p:cNvPr id="21" name="Text 19"/>
          <p:cNvSpPr/>
          <p:nvPr/>
        </p:nvSpPr>
        <p:spPr>
          <a:xfrm>
            <a:off x="5486400" y="2962656"/>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M12 (Microsoft's Venture Fund) — lead investor</a:t>
            </a:r>
            <a:endParaRPr lang="en-US" sz="1100" dirty="0"/>
          </a:p>
        </p:txBody>
      </p:sp>
      <p:sp>
        <p:nvSpPr>
          <p:cNvPr id="22" name="Text 20"/>
          <p:cNvSpPr/>
          <p:nvPr/>
        </p:nvSpPr>
        <p:spPr>
          <a:xfrm>
            <a:off x="2011680" y="3310128"/>
            <a:ext cx="2743200" cy="256032"/>
          </a:xfrm>
          <a:prstGeom prst="rect">
            <a:avLst/>
          </a:prstGeom>
          <a:noFill/>
          <a:ln/>
        </p:spPr>
        <p:txBody>
          <a:bodyPr wrap="square" rtlCol="0" anchor="ctr"/>
          <a:lstStyle/>
          <a:p>
            <a:pPr indent="0" marL="0">
              <a:buNone/>
            </a:pPr>
            <a:r>
              <a:rPr lang="en-US" sz="900" b="1" dirty="0">
                <a:solidFill>
                  <a:srgbClr val="2E75B6"/>
                </a:solidFill>
                <a:latin typeface="Calibri" pitchFamily="34" charset="0"/>
                <a:ea typeface="Calibri" pitchFamily="34" charset="-122"/>
                <a:cs typeface="Calibri" pitchFamily="34" charset="-120"/>
              </a:rPr>
              <a:t>LARGEST ROUND</a:t>
            </a:r>
            <a:endParaRPr lang="en-US" sz="900" dirty="0"/>
          </a:p>
        </p:txBody>
      </p:sp>
      <p:sp>
        <p:nvSpPr>
          <p:cNvPr id="23" name="Shape 21"/>
          <p:cNvSpPr/>
          <p:nvPr/>
        </p:nvSpPr>
        <p:spPr>
          <a:xfrm>
            <a:off x="365760" y="3785616"/>
            <a:ext cx="11430000" cy="749808"/>
          </a:xfrm>
          <a:prstGeom prst="rect">
            <a:avLst/>
          </a:prstGeom>
          <a:solidFill>
            <a:srgbClr val="FFFFFF"/>
          </a:solidFill>
          <a:ln/>
        </p:spPr>
      </p:sp>
      <p:sp>
        <p:nvSpPr>
          <p:cNvPr id="24" name="Shape 22"/>
          <p:cNvSpPr/>
          <p:nvPr/>
        </p:nvSpPr>
        <p:spPr>
          <a:xfrm>
            <a:off x="365760" y="3785616"/>
            <a:ext cx="73152" cy="749808"/>
          </a:xfrm>
          <a:prstGeom prst="rect">
            <a:avLst/>
          </a:prstGeom>
          <a:solidFill>
            <a:srgbClr val="F39C12"/>
          </a:solidFill>
          <a:ln/>
        </p:spPr>
      </p:sp>
      <p:sp>
        <p:nvSpPr>
          <p:cNvPr id="25" name="Text 23"/>
          <p:cNvSpPr/>
          <p:nvPr/>
        </p:nvSpPr>
        <p:spPr>
          <a:xfrm>
            <a:off x="548640" y="3877056"/>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Jul 2024</a:t>
            </a:r>
            <a:endParaRPr lang="en-US" sz="1000" dirty="0"/>
          </a:p>
        </p:txBody>
      </p:sp>
      <p:sp>
        <p:nvSpPr>
          <p:cNvPr id="26" name="Text 24"/>
          <p:cNvSpPr/>
          <p:nvPr/>
        </p:nvSpPr>
        <p:spPr>
          <a:xfrm>
            <a:off x="2011680" y="3858768"/>
            <a:ext cx="1828800" cy="310896"/>
          </a:xfrm>
          <a:prstGeom prst="rect">
            <a:avLst/>
          </a:prstGeom>
          <a:noFill/>
          <a:ln/>
        </p:spPr>
        <p:txBody>
          <a:bodyPr wrap="square"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Convertible Note</a:t>
            </a:r>
            <a:endParaRPr lang="en-US" sz="1300" dirty="0"/>
          </a:p>
        </p:txBody>
      </p:sp>
      <p:sp>
        <p:nvSpPr>
          <p:cNvPr id="27" name="Text 25"/>
          <p:cNvSpPr/>
          <p:nvPr/>
        </p:nvSpPr>
        <p:spPr>
          <a:xfrm>
            <a:off x="3931920" y="3858768"/>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$1.1M</a:t>
            </a:r>
            <a:endParaRPr lang="en-US" sz="1300" dirty="0"/>
          </a:p>
        </p:txBody>
      </p:sp>
      <p:sp>
        <p:nvSpPr>
          <p:cNvPr id="28" name="Text 26"/>
          <p:cNvSpPr/>
          <p:nvPr/>
        </p:nvSpPr>
        <p:spPr>
          <a:xfrm>
            <a:off x="5486400" y="3858768"/>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10 investors (SEC filing)</a:t>
            </a:r>
            <a:endParaRPr lang="en-US" sz="1100" dirty="0"/>
          </a:p>
        </p:txBody>
      </p:sp>
      <p:sp>
        <p:nvSpPr>
          <p:cNvPr id="29" name="Shape 27"/>
          <p:cNvSpPr/>
          <p:nvPr/>
        </p:nvSpPr>
        <p:spPr>
          <a:xfrm>
            <a:off x="365760" y="4681728"/>
            <a:ext cx="11430000" cy="749808"/>
          </a:xfrm>
          <a:prstGeom prst="rect">
            <a:avLst/>
          </a:prstGeom>
          <a:solidFill>
            <a:srgbClr val="F4F6FA"/>
          </a:solidFill>
          <a:ln/>
        </p:spPr>
      </p:sp>
      <p:sp>
        <p:nvSpPr>
          <p:cNvPr id="30" name="Shape 28"/>
          <p:cNvSpPr/>
          <p:nvPr/>
        </p:nvSpPr>
        <p:spPr>
          <a:xfrm>
            <a:off x="365760" y="4681728"/>
            <a:ext cx="73152" cy="749808"/>
          </a:xfrm>
          <a:prstGeom prst="rect">
            <a:avLst/>
          </a:prstGeom>
          <a:solidFill>
            <a:srgbClr val="16A085"/>
          </a:solidFill>
          <a:ln/>
        </p:spPr>
      </p:sp>
      <p:sp>
        <p:nvSpPr>
          <p:cNvPr id="31" name="Text 29"/>
          <p:cNvSpPr/>
          <p:nvPr/>
        </p:nvSpPr>
        <p:spPr>
          <a:xfrm>
            <a:off x="548640" y="4773168"/>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Aug 2024</a:t>
            </a:r>
            <a:endParaRPr lang="en-US" sz="1000" dirty="0"/>
          </a:p>
        </p:txBody>
      </p:sp>
      <p:sp>
        <p:nvSpPr>
          <p:cNvPr id="32" name="Text 30"/>
          <p:cNvSpPr/>
          <p:nvPr/>
        </p:nvSpPr>
        <p:spPr>
          <a:xfrm>
            <a:off x="2011680" y="4754880"/>
            <a:ext cx="1828800" cy="310896"/>
          </a:xfrm>
          <a:prstGeom prst="rect">
            <a:avLst/>
          </a:prstGeom>
          <a:noFill/>
          <a:ln/>
        </p:spPr>
        <p:txBody>
          <a:bodyPr wrap="square" rtlCol="0" anchor="ctr"/>
          <a:lstStyle/>
          <a:p>
            <a:pPr indent="0" marL="0">
              <a:buNone/>
            </a:pPr>
            <a:r>
              <a:rPr lang="en-US" sz="1300" b="1" dirty="0">
                <a:solidFill>
                  <a:srgbClr val="16A085"/>
                </a:solidFill>
                <a:latin typeface="Calibri" pitchFamily="34" charset="0"/>
                <a:ea typeface="Calibri" pitchFamily="34" charset="-122"/>
                <a:cs typeface="Calibri" pitchFamily="34" charset="-120"/>
              </a:rPr>
              <a:t>Gov Contract</a:t>
            </a:r>
            <a:endParaRPr lang="en-US" sz="1300" dirty="0"/>
          </a:p>
        </p:txBody>
      </p:sp>
      <p:sp>
        <p:nvSpPr>
          <p:cNvPr id="33" name="Text 31"/>
          <p:cNvSpPr/>
          <p:nvPr/>
        </p:nvSpPr>
        <p:spPr>
          <a:xfrm>
            <a:off x="3931920" y="4754880"/>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$1.25M</a:t>
            </a:r>
            <a:endParaRPr lang="en-US" sz="1300" dirty="0"/>
          </a:p>
        </p:txBody>
      </p:sp>
      <p:sp>
        <p:nvSpPr>
          <p:cNvPr id="34" name="Text 32"/>
          <p:cNvSpPr/>
          <p:nvPr/>
        </p:nvSpPr>
        <p:spPr>
          <a:xfrm>
            <a:off x="5486400" y="4754880"/>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DoD USAF — STTR Phase II (AI/ML for Air Education &amp; Training)</a:t>
            </a:r>
            <a:endParaRPr lang="en-US" sz="1100" dirty="0"/>
          </a:p>
        </p:txBody>
      </p:sp>
      <p:sp>
        <p:nvSpPr>
          <p:cNvPr id="35" name="Shape 33"/>
          <p:cNvSpPr/>
          <p:nvPr/>
        </p:nvSpPr>
        <p:spPr>
          <a:xfrm>
            <a:off x="365760" y="5577840"/>
            <a:ext cx="11430000" cy="749808"/>
          </a:xfrm>
          <a:prstGeom prst="rect">
            <a:avLst/>
          </a:prstGeom>
          <a:solidFill>
            <a:srgbClr val="FFFFFF"/>
          </a:solidFill>
          <a:ln/>
        </p:spPr>
      </p:sp>
      <p:sp>
        <p:nvSpPr>
          <p:cNvPr id="36" name="Shape 34"/>
          <p:cNvSpPr/>
          <p:nvPr/>
        </p:nvSpPr>
        <p:spPr>
          <a:xfrm>
            <a:off x="365760" y="5577840"/>
            <a:ext cx="73152" cy="749808"/>
          </a:xfrm>
          <a:prstGeom prst="rect">
            <a:avLst/>
          </a:prstGeom>
          <a:solidFill>
            <a:srgbClr val="8E44AD"/>
          </a:solidFill>
          <a:ln/>
        </p:spPr>
      </p:sp>
      <p:sp>
        <p:nvSpPr>
          <p:cNvPr id="37" name="Text 35"/>
          <p:cNvSpPr/>
          <p:nvPr/>
        </p:nvSpPr>
        <p:spPr>
          <a:xfrm>
            <a:off x="548640" y="5669280"/>
            <a:ext cx="13716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May 2024</a:t>
            </a:r>
            <a:endParaRPr lang="en-US" sz="1000" dirty="0"/>
          </a:p>
        </p:txBody>
      </p:sp>
      <p:sp>
        <p:nvSpPr>
          <p:cNvPr id="38" name="Text 36"/>
          <p:cNvSpPr/>
          <p:nvPr/>
        </p:nvSpPr>
        <p:spPr>
          <a:xfrm>
            <a:off x="2011680" y="5650992"/>
            <a:ext cx="1828800" cy="310896"/>
          </a:xfrm>
          <a:prstGeom prst="rect">
            <a:avLst/>
          </a:prstGeom>
          <a:noFill/>
          <a:ln/>
        </p:spPr>
        <p:txBody>
          <a:bodyPr wrap="square" rtlCol="0" anchor="ctr"/>
          <a:lstStyle/>
          <a:p>
            <a:pPr indent="0" marL="0">
              <a:buNone/>
            </a:pPr>
            <a:r>
              <a:rPr lang="en-US" sz="1300" b="1" dirty="0">
                <a:solidFill>
                  <a:srgbClr val="8E44AD"/>
                </a:solidFill>
                <a:latin typeface="Calibri" pitchFamily="34" charset="0"/>
                <a:ea typeface="Calibri" pitchFamily="34" charset="-122"/>
                <a:cs typeface="Calibri" pitchFamily="34" charset="-120"/>
              </a:rPr>
              <a:t>Accelerator</a:t>
            </a:r>
            <a:endParaRPr lang="en-US" sz="1300" dirty="0"/>
          </a:p>
        </p:txBody>
      </p:sp>
      <p:sp>
        <p:nvSpPr>
          <p:cNvPr id="39" name="Text 37"/>
          <p:cNvSpPr/>
          <p:nvPr/>
        </p:nvSpPr>
        <p:spPr>
          <a:xfrm>
            <a:off x="3931920" y="5650992"/>
            <a:ext cx="1371600" cy="310896"/>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N/D</a:t>
            </a:r>
            <a:endParaRPr lang="en-US" sz="1300" dirty="0"/>
          </a:p>
        </p:txBody>
      </p:sp>
      <p:sp>
        <p:nvSpPr>
          <p:cNvPr id="40" name="Text 38"/>
          <p:cNvSpPr/>
          <p:nvPr/>
        </p:nvSpPr>
        <p:spPr>
          <a:xfrm>
            <a:off x="5486400" y="5650992"/>
            <a:ext cx="6217920" cy="31089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US Space Force SDA TAP Lab Apollo Accelerator Program</a:t>
            </a:r>
            <a:endParaRPr lang="en-US" sz="1100" dirty="0"/>
          </a:p>
        </p:txBody>
      </p:sp>
      <p:sp>
        <p:nvSpPr>
          <p:cNvPr id="41" name="Shape 39"/>
          <p:cNvSpPr/>
          <p:nvPr/>
        </p:nvSpPr>
        <p:spPr>
          <a:xfrm>
            <a:off x="365760" y="6419088"/>
            <a:ext cx="11430000" cy="320040"/>
          </a:xfrm>
          <a:prstGeom prst="rect">
            <a:avLst/>
          </a:prstGeom>
          <a:solidFill>
            <a:srgbClr val="1F3864"/>
          </a:solidFill>
          <a:ln/>
        </p:spPr>
      </p:sp>
      <p:sp>
        <p:nvSpPr>
          <p:cNvPr id="42" name="Text 40"/>
          <p:cNvSpPr/>
          <p:nvPr/>
        </p:nvSpPr>
        <p:spPr>
          <a:xfrm>
            <a:off x="502920" y="6437376"/>
            <a:ext cx="11155680" cy="274320"/>
          </a:xfrm>
          <a:prstGeom prst="rect">
            <a:avLst/>
          </a:prstGeom>
          <a:noFill/>
          <a:ln/>
        </p:spPr>
        <p:txBody>
          <a:bodyPr wrap="square" rtlCol="0" anchor="ctr"/>
          <a:lstStyle/>
          <a:p>
            <a:pPr indent="0" marL="0">
              <a:buNone/>
            </a:pPr>
            <a:r>
              <a:rPr lang="en-US" sz="1000" b="1" dirty="0">
                <a:solidFill>
                  <a:srgbClr val="02C39A"/>
                </a:solidFill>
                <a:latin typeface="Calibri" pitchFamily="34" charset="0"/>
                <a:ea typeface="Calibri" pitchFamily="34" charset="-122"/>
                <a:cs typeface="Calibri" pitchFamily="34" charset="-120"/>
              </a:rPr>
              <a:t>Total Raised: $34.4M across 7 rounds  |  21 investors (PitchBook)  |  M12, Greycroft, Boldstart are key institutional backers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F3864"/>
          </a:solidFill>
          <a:ln/>
        </p:spPr>
      </p:sp>
      <p:sp>
        <p:nvSpPr>
          <p:cNvPr id="3" name="Text 1"/>
          <p:cNvSpPr/>
          <p:nvPr/>
        </p:nvSpPr>
        <p:spPr>
          <a:xfrm>
            <a:off x="457200" y="182880"/>
            <a:ext cx="109728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Wallaroo.AI vs. Vex — Head-to-Head Comparison</a:t>
            </a:r>
            <a:endParaRPr lang="en-US" sz="2800" dirty="0"/>
          </a:p>
        </p:txBody>
      </p:sp>
      <p:sp>
        <p:nvSpPr>
          <p:cNvPr id="4" name="Shape 2"/>
          <p:cNvSpPr/>
          <p:nvPr/>
        </p:nvSpPr>
        <p:spPr>
          <a:xfrm>
            <a:off x="365760" y="1078992"/>
            <a:ext cx="2560320" cy="411480"/>
          </a:xfrm>
          <a:prstGeom prst="rect">
            <a:avLst/>
          </a:prstGeom>
          <a:solidFill>
            <a:srgbClr val="1F3864"/>
          </a:solidFill>
          <a:ln/>
        </p:spPr>
      </p:sp>
      <p:sp>
        <p:nvSpPr>
          <p:cNvPr id="5" name="Text 3"/>
          <p:cNvSpPr/>
          <p:nvPr/>
        </p:nvSpPr>
        <p:spPr>
          <a:xfrm>
            <a:off x="438912" y="1097280"/>
            <a:ext cx="2450592"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p>
        </p:txBody>
      </p:sp>
      <p:sp>
        <p:nvSpPr>
          <p:cNvPr id="6" name="Shape 4"/>
          <p:cNvSpPr/>
          <p:nvPr/>
        </p:nvSpPr>
        <p:spPr>
          <a:xfrm>
            <a:off x="2953512" y="1078992"/>
            <a:ext cx="4206240" cy="411480"/>
          </a:xfrm>
          <a:prstGeom prst="rect">
            <a:avLst/>
          </a:prstGeom>
          <a:solidFill>
            <a:srgbClr val="E67E22"/>
          </a:solidFill>
          <a:ln/>
        </p:spPr>
      </p:sp>
      <p:sp>
        <p:nvSpPr>
          <p:cNvPr id="7" name="Text 5"/>
          <p:cNvSpPr/>
          <p:nvPr/>
        </p:nvSpPr>
        <p:spPr>
          <a:xfrm>
            <a:off x="3026664" y="1097280"/>
            <a:ext cx="4096512"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Wallaroo.AI</a:t>
            </a:r>
            <a:endParaRPr lang="en-US" sz="1200" dirty="0"/>
          </a:p>
        </p:txBody>
      </p:sp>
      <p:sp>
        <p:nvSpPr>
          <p:cNvPr id="8" name="Shape 6"/>
          <p:cNvSpPr/>
          <p:nvPr/>
        </p:nvSpPr>
        <p:spPr>
          <a:xfrm>
            <a:off x="7187184" y="1078992"/>
            <a:ext cx="5212080" cy="411480"/>
          </a:xfrm>
          <a:prstGeom prst="rect">
            <a:avLst/>
          </a:prstGeom>
          <a:solidFill>
            <a:srgbClr val="2E75B6"/>
          </a:solidFill>
          <a:ln/>
        </p:spPr>
      </p:sp>
      <p:sp>
        <p:nvSpPr>
          <p:cNvPr id="9" name="Text 7"/>
          <p:cNvSpPr/>
          <p:nvPr/>
        </p:nvSpPr>
        <p:spPr>
          <a:xfrm>
            <a:off x="7260336" y="1097280"/>
            <a:ext cx="5102352"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Vex</a:t>
            </a:r>
            <a:endParaRPr lang="en-US" sz="1200" dirty="0"/>
          </a:p>
        </p:txBody>
      </p:sp>
      <p:sp>
        <p:nvSpPr>
          <p:cNvPr id="10" name="Shape 8"/>
          <p:cNvSpPr/>
          <p:nvPr/>
        </p:nvSpPr>
        <p:spPr>
          <a:xfrm>
            <a:off x="365760" y="1554480"/>
            <a:ext cx="2560320" cy="329184"/>
          </a:xfrm>
          <a:prstGeom prst="rect">
            <a:avLst/>
          </a:prstGeom>
          <a:solidFill>
            <a:srgbClr val="EFF6FF"/>
          </a:solidFill>
          <a:ln/>
        </p:spPr>
      </p:sp>
      <p:sp>
        <p:nvSpPr>
          <p:cNvPr id="11" name="Text 9"/>
          <p:cNvSpPr/>
          <p:nvPr/>
        </p:nvSpPr>
        <p:spPr>
          <a:xfrm>
            <a:off x="438912" y="1581912"/>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Stack Layer</a:t>
            </a:r>
            <a:endParaRPr lang="en-US" sz="950" dirty="0"/>
          </a:p>
        </p:txBody>
      </p:sp>
      <p:sp>
        <p:nvSpPr>
          <p:cNvPr id="12" name="Shape 10"/>
          <p:cNvSpPr/>
          <p:nvPr/>
        </p:nvSpPr>
        <p:spPr>
          <a:xfrm>
            <a:off x="2953512" y="1554480"/>
            <a:ext cx="4206240" cy="329184"/>
          </a:xfrm>
          <a:prstGeom prst="rect">
            <a:avLst/>
          </a:prstGeom>
          <a:solidFill>
            <a:srgbClr val="F8FAFC"/>
          </a:solidFill>
          <a:ln/>
        </p:spPr>
      </p:sp>
      <p:sp>
        <p:nvSpPr>
          <p:cNvPr id="13" name="Text 11"/>
          <p:cNvSpPr/>
          <p:nvPr/>
        </p:nvSpPr>
        <p:spPr>
          <a:xfrm>
            <a:off x="3026664" y="1581912"/>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MLOps/LLMOps: deploy &amp; serve models</a:t>
            </a:r>
            <a:endParaRPr lang="en-US" sz="950" dirty="0"/>
          </a:p>
        </p:txBody>
      </p:sp>
      <p:sp>
        <p:nvSpPr>
          <p:cNvPr id="14" name="Shape 12"/>
          <p:cNvSpPr/>
          <p:nvPr/>
        </p:nvSpPr>
        <p:spPr>
          <a:xfrm>
            <a:off x="7187184" y="1554480"/>
            <a:ext cx="5212080" cy="329184"/>
          </a:xfrm>
          <a:prstGeom prst="rect">
            <a:avLst/>
          </a:prstGeom>
          <a:solidFill>
            <a:srgbClr val="F8FAFC"/>
          </a:solidFill>
          <a:ln/>
        </p:spPr>
      </p:sp>
      <p:sp>
        <p:nvSpPr>
          <p:cNvPr id="15" name="Text 13"/>
          <p:cNvSpPr/>
          <p:nvPr/>
        </p:nvSpPr>
        <p:spPr>
          <a:xfrm>
            <a:off x="7260336" y="1581912"/>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Agent behavioral safety: runtime output guard</a:t>
            </a:r>
            <a:endParaRPr lang="en-US" sz="950" dirty="0"/>
          </a:p>
        </p:txBody>
      </p:sp>
      <p:sp>
        <p:nvSpPr>
          <p:cNvPr id="16" name="Shape 14"/>
          <p:cNvSpPr/>
          <p:nvPr/>
        </p:nvSpPr>
        <p:spPr>
          <a:xfrm>
            <a:off x="365760" y="1911096"/>
            <a:ext cx="2560320" cy="329184"/>
          </a:xfrm>
          <a:prstGeom prst="rect">
            <a:avLst/>
          </a:prstGeom>
          <a:solidFill>
            <a:srgbClr val="EFF6FF"/>
          </a:solidFill>
          <a:ln/>
        </p:spPr>
      </p:sp>
      <p:sp>
        <p:nvSpPr>
          <p:cNvPr id="17" name="Text 15"/>
          <p:cNvSpPr/>
          <p:nvPr/>
        </p:nvSpPr>
        <p:spPr>
          <a:xfrm>
            <a:off x="438912" y="1938528"/>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Core Value Prop</a:t>
            </a:r>
            <a:endParaRPr lang="en-US" sz="950" dirty="0"/>
          </a:p>
        </p:txBody>
      </p:sp>
      <p:sp>
        <p:nvSpPr>
          <p:cNvPr id="18" name="Shape 16"/>
          <p:cNvSpPr/>
          <p:nvPr/>
        </p:nvSpPr>
        <p:spPr>
          <a:xfrm>
            <a:off x="2953512" y="1911096"/>
            <a:ext cx="4206240" cy="329184"/>
          </a:xfrm>
          <a:prstGeom prst="rect">
            <a:avLst/>
          </a:prstGeom>
          <a:solidFill>
            <a:srgbClr val="FFFFFF"/>
          </a:solidFill>
          <a:ln/>
        </p:spPr>
      </p:sp>
      <p:sp>
        <p:nvSpPr>
          <p:cNvPr id="19" name="Text 17"/>
          <p:cNvSpPr/>
          <p:nvPr/>
        </p:nvSpPr>
        <p:spPr>
          <a:xfrm>
            <a:off x="3026664" y="1938528"/>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Any model on any hardware anywhere</a:t>
            </a:r>
            <a:endParaRPr lang="en-US" sz="950" dirty="0"/>
          </a:p>
        </p:txBody>
      </p:sp>
      <p:sp>
        <p:nvSpPr>
          <p:cNvPr id="20" name="Shape 18"/>
          <p:cNvSpPr/>
          <p:nvPr/>
        </p:nvSpPr>
        <p:spPr>
          <a:xfrm>
            <a:off x="7187184" y="1911096"/>
            <a:ext cx="5212080" cy="329184"/>
          </a:xfrm>
          <a:prstGeom prst="rect">
            <a:avLst/>
          </a:prstGeom>
          <a:solidFill>
            <a:srgbClr val="FFFFFF"/>
          </a:solidFill>
          <a:ln/>
        </p:spPr>
      </p:sp>
      <p:sp>
        <p:nvSpPr>
          <p:cNvPr id="21" name="Text 19"/>
          <p:cNvSpPr/>
          <p:nvPr/>
        </p:nvSpPr>
        <p:spPr>
          <a:xfrm>
            <a:off x="7260336" y="1938528"/>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Block bad agent outputs before users see them</a:t>
            </a:r>
            <a:endParaRPr lang="en-US" sz="950" dirty="0"/>
          </a:p>
        </p:txBody>
      </p:sp>
      <p:sp>
        <p:nvSpPr>
          <p:cNvPr id="22" name="Shape 20"/>
          <p:cNvSpPr/>
          <p:nvPr/>
        </p:nvSpPr>
        <p:spPr>
          <a:xfrm>
            <a:off x="365760" y="2267712"/>
            <a:ext cx="2560320" cy="329184"/>
          </a:xfrm>
          <a:prstGeom prst="rect">
            <a:avLst/>
          </a:prstGeom>
          <a:solidFill>
            <a:srgbClr val="EFF6FF"/>
          </a:solidFill>
          <a:ln/>
        </p:spPr>
      </p:sp>
      <p:sp>
        <p:nvSpPr>
          <p:cNvPr id="23" name="Text 21"/>
          <p:cNvSpPr/>
          <p:nvPr/>
        </p:nvSpPr>
        <p:spPr>
          <a:xfrm>
            <a:off x="438912" y="2295144"/>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Founded</a:t>
            </a:r>
            <a:endParaRPr lang="en-US" sz="950" dirty="0"/>
          </a:p>
        </p:txBody>
      </p:sp>
      <p:sp>
        <p:nvSpPr>
          <p:cNvPr id="24" name="Shape 22"/>
          <p:cNvSpPr/>
          <p:nvPr/>
        </p:nvSpPr>
        <p:spPr>
          <a:xfrm>
            <a:off x="2953512" y="2267712"/>
            <a:ext cx="4206240" cy="329184"/>
          </a:xfrm>
          <a:prstGeom prst="rect">
            <a:avLst/>
          </a:prstGeom>
          <a:solidFill>
            <a:srgbClr val="F8FAFC"/>
          </a:solidFill>
          <a:ln/>
        </p:spPr>
      </p:sp>
      <p:sp>
        <p:nvSpPr>
          <p:cNvPr id="25" name="Text 23"/>
          <p:cNvSpPr/>
          <p:nvPr/>
        </p:nvSpPr>
        <p:spPr>
          <a:xfrm>
            <a:off x="3026664" y="2295144"/>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2017 (7 years in market)</a:t>
            </a:r>
            <a:endParaRPr lang="en-US" sz="950" dirty="0"/>
          </a:p>
        </p:txBody>
      </p:sp>
      <p:sp>
        <p:nvSpPr>
          <p:cNvPr id="26" name="Shape 24"/>
          <p:cNvSpPr/>
          <p:nvPr/>
        </p:nvSpPr>
        <p:spPr>
          <a:xfrm>
            <a:off x="7187184" y="2267712"/>
            <a:ext cx="5212080" cy="329184"/>
          </a:xfrm>
          <a:prstGeom prst="rect">
            <a:avLst/>
          </a:prstGeom>
          <a:solidFill>
            <a:srgbClr val="F8FAFC"/>
          </a:solidFill>
          <a:ln/>
        </p:spPr>
      </p:sp>
      <p:sp>
        <p:nvSpPr>
          <p:cNvPr id="27" name="Text 25"/>
          <p:cNvSpPr/>
          <p:nvPr/>
        </p:nvSpPr>
        <p:spPr>
          <a:xfrm>
            <a:off x="7260336" y="2295144"/>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2024 (early-stage)</a:t>
            </a:r>
            <a:endParaRPr lang="en-US" sz="950" dirty="0"/>
          </a:p>
        </p:txBody>
      </p:sp>
      <p:sp>
        <p:nvSpPr>
          <p:cNvPr id="28" name="Shape 26"/>
          <p:cNvSpPr/>
          <p:nvPr/>
        </p:nvSpPr>
        <p:spPr>
          <a:xfrm>
            <a:off x="365760" y="2624328"/>
            <a:ext cx="2560320" cy="329184"/>
          </a:xfrm>
          <a:prstGeom prst="rect">
            <a:avLst/>
          </a:prstGeom>
          <a:solidFill>
            <a:srgbClr val="EFF6FF"/>
          </a:solidFill>
          <a:ln/>
        </p:spPr>
      </p:sp>
      <p:sp>
        <p:nvSpPr>
          <p:cNvPr id="29" name="Text 27"/>
          <p:cNvSpPr/>
          <p:nvPr/>
        </p:nvSpPr>
        <p:spPr>
          <a:xfrm>
            <a:off x="438912" y="2651760"/>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Funding</a:t>
            </a:r>
            <a:endParaRPr lang="en-US" sz="950" dirty="0"/>
          </a:p>
        </p:txBody>
      </p:sp>
      <p:sp>
        <p:nvSpPr>
          <p:cNvPr id="30" name="Shape 28"/>
          <p:cNvSpPr/>
          <p:nvPr/>
        </p:nvSpPr>
        <p:spPr>
          <a:xfrm>
            <a:off x="2953512" y="2624328"/>
            <a:ext cx="4206240" cy="329184"/>
          </a:xfrm>
          <a:prstGeom prst="rect">
            <a:avLst/>
          </a:prstGeom>
          <a:solidFill>
            <a:srgbClr val="FFFFFF"/>
          </a:solidFill>
          <a:ln/>
        </p:spPr>
      </p:sp>
      <p:sp>
        <p:nvSpPr>
          <p:cNvPr id="31" name="Text 29"/>
          <p:cNvSpPr/>
          <p:nvPr/>
        </p:nvSpPr>
        <p:spPr>
          <a:xfrm>
            <a:off x="3026664" y="2651760"/>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$34.4M — Series A</a:t>
            </a:r>
            <a:endParaRPr lang="en-US" sz="950" dirty="0"/>
          </a:p>
        </p:txBody>
      </p:sp>
      <p:sp>
        <p:nvSpPr>
          <p:cNvPr id="32" name="Shape 30"/>
          <p:cNvSpPr/>
          <p:nvPr/>
        </p:nvSpPr>
        <p:spPr>
          <a:xfrm>
            <a:off x="7187184" y="2624328"/>
            <a:ext cx="5212080" cy="329184"/>
          </a:xfrm>
          <a:prstGeom prst="rect">
            <a:avLst/>
          </a:prstGeom>
          <a:solidFill>
            <a:srgbClr val="FFFFFF"/>
          </a:solidFill>
          <a:ln/>
        </p:spPr>
      </p:sp>
      <p:sp>
        <p:nvSpPr>
          <p:cNvPr id="33" name="Text 31"/>
          <p:cNvSpPr/>
          <p:nvPr/>
        </p:nvSpPr>
        <p:spPr>
          <a:xfrm>
            <a:off x="7260336" y="2651760"/>
            <a:ext cx="5102352"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Undisclosed (pre-seed/seed)</a:t>
            </a:r>
            <a:endParaRPr lang="en-US" sz="950" dirty="0"/>
          </a:p>
        </p:txBody>
      </p:sp>
      <p:sp>
        <p:nvSpPr>
          <p:cNvPr id="34" name="Shape 32"/>
          <p:cNvSpPr/>
          <p:nvPr/>
        </p:nvSpPr>
        <p:spPr>
          <a:xfrm>
            <a:off x="365760" y="2980944"/>
            <a:ext cx="2560320" cy="329184"/>
          </a:xfrm>
          <a:prstGeom prst="rect">
            <a:avLst/>
          </a:prstGeom>
          <a:solidFill>
            <a:srgbClr val="EFF6FF"/>
          </a:solidFill>
          <a:ln/>
        </p:spPr>
      </p:sp>
      <p:sp>
        <p:nvSpPr>
          <p:cNvPr id="35" name="Text 33"/>
          <p:cNvSpPr/>
          <p:nvPr/>
        </p:nvSpPr>
        <p:spPr>
          <a:xfrm>
            <a:off x="438912" y="3008376"/>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Headcount</a:t>
            </a:r>
            <a:endParaRPr lang="en-US" sz="950" dirty="0"/>
          </a:p>
        </p:txBody>
      </p:sp>
      <p:sp>
        <p:nvSpPr>
          <p:cNvPr id="36" name="Shape 34"/>
          <p:cNvSpPr/>
          <p:nvPr/>
        </p:nvSpPr>
        <p:spPr>
          <a:xfrm>
            <a:off x="2953512" y="2980944"/>
            <a:ext cx="4206240" cy="329184"/>
          </a:xfrm>
          <a:prstGeom prst="rect">
            <a:avLst/>
          </a:prstGeom>
          <a:solidFill>
            <a:srgbClr val="F8FAFC"/>
          </a:solidFill>
          <a:ln/>
        </p:spPr>
      </p:sp>
      <p:sp>
        <p:nvSpPr>
          <p:cNvPr id="37" name="Text 35"/>
          <p:cNvSpPr/>
          <p:nvPr/>
        </p:nvSpPr>
        <p:spPr>
          <a:xfrm>
            <a:off x="3026664" y="3008376"/>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~43</a:t>
            </a:r>
            <a:endParaRPr lang="en-US" sz="950" dirty="0"/>
          </a:p>
        </p:txBody>
      </p:sp>
      <p:sp>
        <p:nvSpPr>
          <p:cNvPr id="38" name="Shape 36"/>
          <p:cNvSpPr/>
          <p:nvPr/>
        </p:nvSpPr>
        <p:spPr>
          <a:xfrm>
            <a:off x="7187184" y="2980944"/>
            <a:ext cx="5212080" cy="329184"/>
          </a:xfrm>
          <a:prstGeom prst="rect">
            <a:avLst/>
          </a:prstGeom>
          <a:solidFill>
            <a:srgbClr val="F8FAFC"/>
          </a:solidFill>
          <a:ln/>
        </p:spPr>
      </p:sp>
      <p:sp>
        <p:nvSpPr>
          <p:cNvPr id="39" name="Text 37"/>
          <p:cNvSpPr/>
          <p:nvPr/>
        </p:nvSpPr>
        <p:spPr>
          <a:xfrm>
            <a:off x="7260336" y="3008376"/>
            <a:ext cx="5102352"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Undisclosed (very small)</a:t>
            </a:r>
            <a:endParaRPr lang="en-US" sz="950" dirty="0"/>
          </a:p>
        </p:txBody>
      </p:sp>
      <p:sp>
        <p:nvSpPr>
          <p:cNvPr id="40" name="Shape 38"/>
          <p:cNvSpPr/>
          <p:nvPr/>
        </p:nvSpPr>
        <p:spPr>
          <a:xfrm>
            <a:off x="365760" y="3337560"/>
            <a:ext cx="2560320" cy="329184"/>
          </a:xfrm>
          <a:prstGeom prst="rect">
            <a:avLst/>
          </a:prstGeom>
          <a:solidFill>
            <a:srgbClr val="EFF6FF"/>
          </a:solidFill>
          <a:ln/>
        </p:spPr>
      </p:sp>
      <p:sp>
        <p:nvSpPr>
          <p:cNvPr id="41" name="Text 39"/>
          <p:cNvSpPr/>
          <p:nvPr/>
        </p:nvSpPr>
        <p:spPr>
          <a:xfrm>
            <a:off x="438912" y="3364992"/>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Paying Customers</a:t>
            </a:r>
            <a:endParaRPr lang="en-US" sz="950" dirty="0"/>
          </a:p>
        </p:txBody>
      </p:sp>
      <p:sp>
        <p:nvSpPr>
          <p:cNvPr id="42" name="Shape 40"/>
          <p:cNvSpPr/>
          <p:nvPr/>
        </p:nvSpPr>
        <p:spPr>
          <a:xfrm>
            <a:off x="2953512" y="3337560"/>
            <a:ext cx="4206240" cy="329184"/>
          </a:xfrm>
          <a:prstGeom prst="rect">
            <a:avLst/>
          </a:prstGeom>
          <a:solidFill>
            <a:srgbClr val="FFFFFF"/>
          </a:solidFill>
          <a:ln/>
        </p:spPr>
      </p:sp>
      <p:sp>
        <p:nvSpPr>
          <p:cNvPr id="43" name="Text 41"/>
          <p:cNvSpPr/>
          <p:nvPr/>
        </p:nvSpPr>
        <p:spPr>
          <a:xfrm>
            <a:off x="3026664" y="3364992"/>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Fortune 100, USAF, Space Force, PubMatic</a:t>
            </a:r>
            <a:endParaRPr lang="en-US" sz="950" dirty="0"/>
          </a:p>
        </p:txBody>
      </p:sp>
      <p:sp>
        <p:nvSpPr>
          <p:cNvPr id="44" name="Shape 42"/>
          <p:cNvSpPr/>
          <p:nvPr/>
        </p:nvSpPr>
        <p:spPr>
          <a:xfrm>
            <a:off x="7187184" y="3337560"/>
            <a:ext cx="5212080" cy="329184"/>
          </a:xfrm>
          <a:prstGeom prst="rect">
            <a:avLst/>
          </a:prstGeom>
          <a:solidFill>
            <a:srgbClr val="FFFFFF"/>
          </a:solidFill>
          <a:ln/>
        </p:spPr>
      </p:sp>
      <p:sp>
        <p:nvSpPr>
          <p:cNvPr id="45" name="Text 43"/>
          <p:cNvSpPr/>
          <p:nvPr/>
        </p:nvSpPr>
        <p:spPr>
          <a:xfrm>
            <a:off x="7260336" y="3364992"/>
            <a:ext cx="5102352"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None public yet</a:t>
            </a:r>
            <a:endParaRPr lang="en-US" sz="950" dirty="0"/>
          </a:p>
        </p:txBody>
      </p:sp>
      <p:sp>
        <p:nvSpPr>
          <p:cNvPr id="46" name="Shape 44"/>
          <p:cNvSpPr/>
          <p:nvPr/>
        </p:nvSpPr>
        <p:spPr>
          <a:xfrm>
            <a:off x="365760" y="3694176"/>
            <a:ext cx="2560320" cy="329184"/>
          </a:xfrm>
          <a:prstGeom prst="rect">
            <a:avLst/>
          </a:prstGeom>
          <a:solidFill>
            <a:srgbClr val="EFF6FF"/>
          </a:solidFill>
          <a:ln/>
        </p:spPr>
      </p:sp>
      <p:sp>
        <p:nvSpPr>
          <p:cNvPr id="47" name="Text 45"/>
          <p:cNvSpPr/>
          <p:nvPr/>
        </p:nvSpPr>
        <p:spPr>
          <a:xfrm>
            <a:off x="438912" y="3721608"/>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Hallucination detection</a:t>
            </a:r>
            <a:endParaRPr lang="en-US" sz="950" dirty="0"/>
          </a:p>
        </p:txBody>
      </p:sp>
      <p:sp>
        <p:nvSpPr>
          <p:cNvPr id="48" name="Shape 46"/>
          <p:cNvSpPr/>
          <p:nvPr/>
        </p:nvSpPr>
        <p:spPr>
          <a:xfrm>
            <a:off x="2953512" y="3694176"/>
            <a:ext cx="4206240" cy="329184"/>
          </a:xfrm>
          <a:prstGeom prst="rect">
            <a:avLst/>
          </a:prstGeom>
          <a:solidFill>
            <a:srgbClr val="F8FAFC"/>
          </a:solidFill>
          <a:ln/>
        </p:spPr>
      </p:sp>
      <p:sp>
        <p:nvSpPr>
          <p:cNvPr id="49" name="Text 47"/>
          <p:cNvSpPr/>
          <p:nvPr/>
        </p:nvSpPr>
        <p:spPr>
          <a:xfrm>
            <a:off x="3026664" y="3721608"/>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Basic LLM validation (Team/Ent only)</a:t>
            </a:r>
            <a:endParaRPr lang="en-US" sz="950" dirty="0"/>
          </a:p>
        </p:txBody>
      </p:sp>
      <p:sp>
        <p:nvSpPr>
          <p:cNvPr id="50" name="Shape 48"/>
          <p:cNvSpPr/>
          <p:nvPr/>
        </p:nvSpPr>
        <p:spPr>
          <a:xfrm>
            <a:off x="7187184" y="3694176"/>
            <a:ext cx="5212080" cy="329184"/>
          </a:xfrm>
          <a:prstGeom prst="rect">
            <a:avLst/>
          </a:prstGeom>
          <a:solidFill>
            <a:srgbClr val="F8FAFC"/>
          </a:solidFill>
          <a:ln/>
        </p:spPr>
      </p:sp>
      <p:sp>
        <p:nvSpPr>
          <p:cNvPr id="51" name="Text 49"/>
          <p:cNvSpPr/>
          <p:nvPr/>
        </p:nvSpPr>
        <p:spPr>
          <a:xfrm>
            <a:off x="7260336" y="3721608"/>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Deep parallel 6-check pipeline</a:t>
            </a:r>
            <a:endParaRPr lang="en-US" sz="950" dirty="0"/>
          </a:p>
        </p:txBody>
      </p:sp>
      <p:sp>
        <p:nvSpPr>
          <p:cNvPr id="52" name="Shape 50"/>
          <p:cNvSpPr/>
          <p:nvPr/>
        </p:nvSpPr>
        <p:spPr>
          <a:xfrm>
            <a:off x="365760" y="4050792"/>
            <a:ext cx="2560320" cy="329184"/>
          </a:xfrm>
          <a:prstGeom prst="rect">
            <a:avLst/>
          </a:prstGeom>
          <a:solidFill>
            <a:srgbClr val="EFF6FF"/>
          </a:solidFill>
          <a:ln/>
        </p:spPr>
      </p:sp>
      <p:sp>
        <p:nvSpPr>
          <p:cNvPr id="53" name="Text 51"/>
          <p:cNvSpPr/>
          <p:nvPr/>
        </p:nvSpPr>
        <p:spPr>
          <a:xfrm>
            <a:off x="438912" y="4078224"/>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Trajectory drift scoring</a:t>
            </a:r>
            <a:endParaRPr lang="en-US" sz="950" dirty="0"/>
          </a:p>
        </p:txBody>
      </p:sp>
      <p:sp>
        <p:nvSpPr>
          <p:cNvPr id="54" name="Shape 52"/>
          <p:cNvSpPr/>
          <p:nvPr/>
        </p:nvSpPr>
        <p:spPr>
          <a:xfrm>
            <a:off x="2953512" y="4050792"/>
            <a:ext cx="4206240" cy="329184"/>
          </a:xfrm>
          <a:prstGeom prst="rect">
            <a:avLst/>
          </a:prstGeom>
          <a:solidFill>
            <a:srgbClr val="FFFFFF"/>
          </a:solidFill>
          <a:ln/>
        </p:spPr>
      </p:sp>
      <p:sp>
        <p:nvSpPr>
          <p:cNvPr id="55" name="Text 53"/>
          <p:cNvSpPr/>
          <p:nvPr/>
        </p:nvSpPr>
        <p:spPr>
          <a:xfrm>
            <a:off x="3026664" y="4078224"/>
            <a:ext cx="4096512"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NO</a:t>
            </a:r>
            <a:endParaRPr lang="en-US" sz="950" dirty="0"/>
          </a:p>
        </p:txBody>
      </p:sp>
      <p:sp>
        <p:nvSpPr>
          <p:cNvPr id="56" name="Shape 54"/>
          <p:cNvSpPr/>
          <p:nvPr/>
        </p:nvSpPr>
        <p:spPr>
          <a:xfrm>
            <a:off x="7187184" y="4050792"/>
            <a:ext cx="5212080" cy="329184"/>
          </a:xfrm>
          <a:prstGeom prst="rect">
            <a:avLst/>
          </a:prstGeom>
          <a:solidFill>
            <a:srgbClr val="FFFFFF"/>
          </a:solidFill>
          <a:ln/>
        </p:spPr>
      </p:sp>
      <p:sp>
        <p:nvSpPr>
          <p:cNvPr id="57" name="Text 55"/>
          <p:cNvSpPr/>
          <p:nvPr/>
        </p:nvSpPr>
        <p:spPr>
          <a:xfrm>
            <a:off x="7260336" y="4078224"/>
            <a:ext cx="5102352" cy="274320"/>
          </a:xfrm>
          <a:prstGeom prst="rect">
            <a:avLst/>
          </a:prstGeom>
          <a:noFill/>
          <a:ln/>
        </p:spPr>
        <p:txBody>
          <a:bodyPr wrap="square"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YES — min(IR, TD) — proprietary</a:t>
            </a:r>
            <a:endParaRPr lang="en-US" sz="950" dirty="0"/>
          </a:p>
        </p:txBody>
      </p:sp>
      <p:sp>
        <p:nvSpPr>
          <p:cNvPr id="58" name="Shape 56"/>
          <p:cNvSpPr/>
          <p:nvPr/>
        </p:nvSpPr>
        <p:spPr>
          <a:xfrm>
            <a:off x="365760" y="4407408"/>
            <a:ext cx="2560320" cy="329184"/>
          </a:xfrm>
          <a:prstGeom prst="rect">
            <a:avLst/>
          </a:prstGeom>
          <a:solidFill>
            <a:srgbClr val="EFF6FF"/>
          </a:solidFill>
          <a:ln/>
        </p:spPr>
      </p:sp>
      <p:sp>
        <p:nvSpPr>
          <p:cNvPr id="59" name="Text 57"/>
          <p:cNvSpPr/>
          <p:nvPr/>
        </p:nvSpPr>
        <p:spPr>
          <a:xfrm>
            <a:off x="438912" y="4434840"/>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Auto-correction cascade</a:t>
            </a:r>
            <a:endParaRPr lang="en-US" sz="950" dirty="0"/>
          </a:p>
        </p:txBody>
      </p:sp>
      <p:sp>
        <p:nvSpPr>
          <p:cNvPr id="60" name="Shape 58"/>
          <p:cNvSpPr/>
          <p:nvPr/>
        </p:nvSpPr>
        <p:spPr>
          <a:xfrm>
            <a:off x="2953512" y="4407408"/>
            <a:ext cx="4206240" cy="329184"/>
          </a:xfrm>
          <a:prstGeom prst="rect">
            <a:avLst/>
          </a:prstGeom>
          <a:solidFill>
            <a:srgbClr val="F8FAFC"/>
          </a:solidFill>
          <a:ln/>
        </p:spPr>
      </p:sp>
      <p:sp>
        <p:nvSpPr>
          <p:cNvPr id="61" name="Text 59"/>
          <p:cNvSpPr/>
          <p:nvPr/>
        </p:nvSpPr>
        <p:spPr>
          <a:xfrm>
            <a:off x="3026664" y="4434840"/>
            <a:ext cx="4096512" cy="27432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NO</a:t>
            </a:r>
            <a:endParaRPr lang="en-US" sz="950" dirty="0"/>
          </a:p>
        </p:txBody>
      </p:sp>
      <p:sp>
        <p:nvSpPr>
          <p:cNvPr id="62" name="Shape 60"/>
          <p:cNvSpPr/>
          <p:nvPr/>
        </p:nvSpPr>
        <p:spPr>
          <a:xfrm>
            <a:off x="7187184" y="4407408"/>
            <a:ext cx="5212080" cy="329184"/>
          </a:xfrm>
          <a:prstGeom prst="rect">
            <a:avLst/>
          </a:prstGeom>
          <a:solidFill>
            <a:srgbClr val="F8FAFC"/>
          </a:solidFill>
          <a:ln/>
        </p:spPr>
      </p:sp>
      <p:sp>
        <p:nvSpPr>
          <p:cNvPr id="63" name="Text 61"/>
          <p:cNvSpPr/>
          <p:nvPr/>
        </p:nvSpPr>
        <p:spPr>
          <a:xfrm>
            <a:off x="7260336" y="4434840"/>
            <a:ext cx="5102352" cy="274320"/>
          </a:xfrm>
          <a:prstGeom prst="rect">
            <a:avLst/>
          </a:prstGeom>
          <a:noFill/>
          <a:ln/>
        </p:spPr>
        <p:txBody>
          <a:bodyPr wrap="square"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YES — 3-layer (unique in market)</a:t>
            </a:r>
            <a:endParaRPr lang="en-US" sz="950" dirty="0"/>
          </a:p>
        </p:txBody>
      </p:sp>
      <p:sp>
        <p:nvSpPr>
          <p:cNvPr id="64" name="Shape 62"/>
          <p:cNvSpPr/>
          <p:nvPr/>
        </p:nvSpPr>
        <p:spPr>
          <a:xfrm>
            <a:off x="365760" y="4764024"/>
            <a:ext cx="2560320" cy="329184"/>
          </a:xfrm>
          <a:prstGeom prst="rect">
            <a:avLst/>
          </a:prstGeom>
          <a:solidFill>
            <a:srgbClr val="EFF6FF"/>
          </a:solidFill>
          <a:ln/>
        </p:spPr>
      </p:sp>
      <p:sp>
        <p:nvSpPr>
          <p:cNvPr id="65" name="Text 63"/>
          <p:cNvSpPr/>
          <p:nvPr/>
        </p:nvSpPr>
        <p:spPr>
          <a:xfrm>
            <a:off x="438912" y="4791456"/>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Edge deployment</a:t>
            </a:r>
            <a:endParaRPr lang="en-US" sz="950" dirty="0"/>
          </a:p>
        </p:txBody>
      </p:sp>
      <p:sp>
        <p:nvSpPr>
          <p:cNvPr id="66" name="Shape 64"/>
          <p:cNvSpPr/>
          <p:nvPr/>
        </p:nvSpPr>
        <p:spPr>
          <a:xfrm>
            <a:off x="2953512" y="4764024"/>
            <a:ext cx="4206240" cy="329184"/>
          </a:xfrm>
          <a:prstGeom prst="rect">
            <a:avLst/>
          </a:prstGeom>
          <a:solidFill>
            <a:srgbClr val="FFFFFF"/>
          </a:solidFill>
          <a:ln/>
        </p:spPr>
      </p:sp>
      <p:sp>
        <p:nvSpPr>
          <p:cNvPr id="67" name="Text 65"/>
          <p:cNvSpPr/>
          <p:nvPr/>
        </p:nvSpPr>
        <p:spPr>
          <a:xfrm>
            <a:off x="3026664" y="4791456"/>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YES — major strength</a:t>
            </a:r>
            <a:endParaRPr lang="en-US" sz="950" dirty="0"/>
          </a:p>
        </p:txBody>
      </p:sp>
      <p:sp>
        <p:nvSpPr>
          <p:cNvPr id="68" name="Shape 66"/>
          <p:cNvSpPr/>
          <p:nvPr/>
        </p:nvSpPr>
        <p:spPr>
          <a:xfrm>
            <a:off x="7187184" y="4764024"/>
            <a:ext cx="5212080" cy="329184"/>
          </a:xfrm>
          <a:prstGeom prst="rect">
            <a:avLst/>
          </a:prstGeom>
          <a:solidFill>
            <a:srgbClr val="FFFFFF"/>
          </a:solidFill>
          <a:ln/>
        </p:spPr>
      </p:sp>
      <p:sp>
        <p:nvSpPr>
          <p:cNvPr id="69" name="Text 67"/>
          <p:cNvSpPr/>
          <p:nvPr/>
        </p:nvSpPr>
        <p:spPr>
          <a:xfrm>
            <a:off x="7260336" y="4791456"/>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N/A (agent output layer)</a:t>
            </a:r>
            <a:endParaRPr lang="en-US" sz="950" dirty="0"/>
          </a:p>
        </p:txBody>
      </p:sp>
      <p:sp>
        <p:nvSpPr>
          <p:cNvPr id="70" name="Shape 68"/>
          <p:cNvSpPr/>
          <p:nvPr/>
        </p:nvSpPr>
        <p:spPr>
          <a:xfrm>
            <a:off x="365760" y="5120640"/>
            <a:ext cx="2560320" cy="329184"/>
          </a:xfrm>
          <a:prstGeom prst="rect">
            <a:avLst/>
          </a:prstGeom>
          <a:solidFill>
            <a:srgbClr val="EFF6FF"/>
          </a:solidFill>
          <a:ln/>
        </p:spPr>
      </p:sp>
      <p:sp>
        <p:nvSpPr>
          <p:cNvPr id="71" name="Text 69"/>
          <p:cNvSpPr/>
          <p:nvPr/>
        </p:nvSpPr>
        <p:spPr>
          <a:xfrm>
            <a:off x="438912" y="5148072"/>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Integration effort</a:t>
            </a:r>
            <a:endParaRPr lang="en-US" sz="950" dirty="0"/>
          </a:p>
        </p:txBody>
      </p:sp>
      <p:sp>
        <p:nvSpPr>
          <p:cNvPr id="72" name="Shape 70"/>
          <p:cNvSpPr/>
          <p:nvPr/>
        </p:nvSpPr>
        <p:spPr>
          <a:xfrm>
            <a:off x="2953512" y="5120640"/>
            <a:ext cx="4206240" cy="329184"/>
          </a:xfrm>
          <a:prstGeom prst="rect">
            <a:avLst/>
          </a:prstGeom>
          <a:solidFill>
            <a:srgbClr val="F8FAFC"/>
          </a:solidFill>
          <a:ln/>
        </p:spPr>
      </p:sp>
      <p:sp>
        <p:nvSpPr>
          <p:cNvPr id="73" name="Text 71"/>
          <p:cNvSpPr/>
          <p:nvPr/>
        </p:nvSpPr>
        <p:spPr>
          <a:xfrm>
            <a:off x="3026664" y="5148072"/>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Moderate — platform migration</a:t>
            </a:r>
            <a:endParaRPr lang="en-US" sz="950" dirty="0"/>
          </a:p>
        </p:txBody>
      </p:sp>
      <p:sp>
        <p:nvSpPr>
          <p:cNvPr id="74" name="Shape 72"/>
          <p:cNvSpPr/>
          <p:nvPr/>
        </p:nvSpPr>
        <p:spPr>
          <a:xfrm>
            <a:off x="7187184" y="5120640"/>
            <a:ext cx="5212080" cy="329184"/>
          </a:xfrm>
          <a:prstGeom prst="rect">
            <a:avLst/>
          </a:prstGeom>
          <a:solidFill>
            <a:srgbClr val="F8FAFC"/>
          </a:solidFill>
          <a:ln/>
        </p:spPr>
      </p:sp>
      <p:sp>
        <p:nvSpPr>
          <p:cNvPr id="75" name="Text 73"/>
          <p:cNvSpPr/>
          <p:nvPr/>
        </p:nvSpPr>
        <p:spPr>
          <a:xfrm>
            <a:off x="7260336" y="5148072"/>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3 lines of code, ~5 min</a:t>
            </a:r>
            <a:endParaRPr lang="en-US" sz="950" dirty="0"/>
          </a:p>
        </p:txBody>
      </p:sp>
      <p:sp>
        <p:nvSpPr>
          <p:cNvPr id="76" name="Shape 74"/>
          <p:cNvSpPr/>
          <p:nvPr/>
        </p:nvSpPr>
        <p:spPr>
          <a:xfrm>
            <a:off x="365760" y="5477256"/>
            <a:ext cx="2560320" cy="329184"/>
          </a:xfrm>
          <a:prstGeom prst="rect">
            <a:avLst/>
          </a:prstGeom>
          <a:solidFill>
            <a:srgbClr val="EFF6FF"/>
          </a:solidFill>
          <a:ln/>
        </p:spPr>
      </p:sp>
      <p:sp>
        <p:nvSpPr>
          <p:cNvPr id="77" name="Text 75"/>
          <p:cNvSpPr/>
          <p:nvPr/>
        </p:nvSpPr>
        <p:spPr>
          <a:xfrm>
            <a:off x="438912" y="5504688"/>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Pricing entry</a:t>
            </a:r>
            <a:endParaRPr lang="en-US" sz="950" dirty="0"/>
          </a:p>
        </p:txBody>
      </p:sp>
      <p:sp>
        <p:nvSpPr>
          <p:cNvPr id="78" name="Shape 76"/>
          <p:cNvSpPr/>
          <p:nvPr/>
        </p:nvSpPr>
        <p:spPr>
          <a:xfrm>
            <a:off x="2953512" y="5477256"/>
            <a:ext cx="4206240" cy="329184"/>
          </a:xfrm>
          <a:prstGeom prst="rect">
            <a:avLst/>
          </a:prstGeom>
          <a:solidFill>
            <a:srgbClr val="FFFFFF"/>
          </a:solidFill>
          <a:ln/>
        </p:spPr>
      </p:sp>
      <p:sp>
        <p:nvSpPr>
          <p:cNvPr id="79" name="Text 77"/>
          <p:cNvSpPr/>
          <p:nvPr/>
        </p:nvSpPr>
        <p:spPr>
          <a:xfrm>
            <a:off x="3026664" y="5504688"/>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$500/mo Starter</a:t>
            </a:r>
            <a:endParaRPr lang="en-US" sz="950" dirty="0"/>
          </a:p>
        </p:txBody>
      </p:sp>
      <p:sp>
        <p:nvSpPr>
          <p:cNvPr id="80" name="Shape 78"/>
          <p:cNvSpPr/>
          <p:nvPr/>
        </p:nvSpPr>
        <p:spPr>
          <a:xfrm>
            <a:off x="7187184" y="5477256"/>
            <a:ext cx="5212080" cy="329184"/>
          </a:xfrm>
          <a:prstGeom prst="rect">
            <a:avLst/>
          </a:prstGeom>
          <a:solidFill>
            <a:srgbClr val="FFFFFF"/>
          </a:solidFill>
          <a:ln/>
        </p:spPr>
      </p:sp>
      <p:sp>
        <p:nvSpPr>
          <p:cNvPr id="81" name="Text 79"/>
          <p:cNvSpPr/>
          <p:nvPr/>
        </p:nvSpPr>
        <p:spPr>
          <a:xfrm>
            <a:off x="7260336" y="5504688"/>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$29/mo Starter</a:t>
            </a:r>
            <a:endParaRPr lang="en-US" sz="950" dirty="0"/>
          </a:p>
        </p:txBody>
      </p:sp>
      <p:sp>
        <p:nvSpPr>
          <p:cNvPr id="82" name="Shape 80"/>
          <p:cNvSpPr/>
          <p:nvPr/>
        </p:nvSpPr>
        <p:spPr>
          <a:xfrm>
            <a:off x="365760" y="5833872"/>
            <a:ext cx="2560320" cy="329184"/>
          </a:xfrm>
          <a:prstGeom prst="rect">
            <a:avLst/>
          </a:prstGeom>
          <a:solidFill>
            <a:srgbClr val="EFF6FF"/>
          </a:solidFill>
          <a:ln/>
        </p:spPr>
      </p:sp>
      <p:sp>
        <p:nvSpPr>
          <p:cNvPr id="83" name="Text 81"/>
          <p:cNvSpPr/>
          <p:nvPr/>
        </p:nvSpPr>
        <p:spPr>
          <a:xfrm>
            <a:off x="438912" y="5861304"/>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Relationship to Vex</a:t>
            </a:r>
            <a:endParaRPr lang="en-US" sz="950" dirty="0"/>
          </a:p>
        </p:txBody>
      </p:sp>
      <p:sp>
        <p:nvSpPr>
          <p:cNvPr id="84" name="Shape 82"/>
          <p:cNvSpPr/>
          <p:nvPr/>
        </p:nvSpPr>
        <p:spPr>
          <a:xfrm>
            <a:off x="2953512" y="5833872"/>
            <a:ext cx="4206240" cy="329184"/>
          </a:xfrm>
          <a:prstGeom prst="rect">
            <a:avLst/>
          </a:prstGeom>
          <a:solidFill>
            <a:srgbClr val="F8FAFC"/>
          </a:solidFill>
          <a:ln/>
        </p:spPr>
      </p:sp>
      <p:sp>
        <p:nvSpPr>
          <p:cNvPr id="85" name="Text 83"/>
          <p:cNvSpPr/>
          <p:nvPr/>
        </p:nvSpPr>
        <p:spPr>
          <a:xfrm>
            <a:off x="3026664" y="5861304"/>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COMPLEMENTARY (deploy layer)</a:t>
            </a:r>
            <a:endParaRPr lang="en-US" sz="950" dirty="0"/>
          </a:p>
        </p:txBody>
      </p:sp>
      <p:sp>
        <p:nvSpPr>
          <p:cNvPr id="86" name="Shape 84"/>
          <p:cNvSpPr/>
          <p:nvPr/>
        </p:nvSpPr>
        <p:spPr>
          <a:xfrm>
            <a:off x="7187184" y="5833872"/>
            <a:ext cx="5212080" cy="329184"/>
          </a:xfrm>
          <a:prstGeom prst="rect">
            <a:avLst/>
          </a:prstGeom>
          <a:solidFill>
            <a:srgbClr val="F8FAFC"/>
          </a:solidFill>
          <a:ln/>
        </p:spPr>
      </p:sp>
      <p:sp>
        <p:nvSpPr>
          <p:cNvPr id="87" name="Text 85"/>
          <p:cNvSpPr/>
          <p:nvPr/>
        </p:nvSpPr>
        <p:spPr>
          <a:xfrm>
            <a:off x="7260336" y="5861304"/>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COMPLEMENTARY (safety layer)</a:t>
            </a:r>
            <a:endParaRPr lang="en-US" sz="950" dirty="0"/>
          </a:p>
        </p:txBody>
      </p:sp>
      <p:sp>
        <p:nvSpPr>
          <p:cNvPr id="88" name="Shape 86"/>
          <p:cNvSpPr/>
          <p:nvPr/>
        </p:nvSpPr>
        <p:spPr>
          <a:xfrm>
            <a:off x="365760" y="6190488"/>
            <a:ext cx="2560320" cy="329184"/>
          </a:xfrm>
          <a:prstGeom prst="rect">
            <a:avLst/>
          </a:prstGeom>
          <a:solidFill>
            <a:srgbClr val="EFF6FF"/>
          </a:solidFill>
          <a:ln/>
        </p:spPr>
      </p:sp>
      <p:sp>
        <p:nvSpPr>
          <p:cNvPr id="89" name="Text 87"/>
          <p:cNvSpPr/>
          <p:nvPr/>
        </p:nvSpPr>
        <p:spPr>
          <a:xfrm>
            <a:off x="438912" y="6217920"/>
            <a:ext cx="2450592" cy="274320"/>
          </a:xfrm>
          <a:prstGeom prst="rect">
            <a:avLst/>
          </a:prstGeom>
          <a:noFill/>
          <a:ln/>
        </p:spPr>
        <p:txBody>
          <a:bodyPr wrap="square"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Threat level</a:t>
            </a:r>
            <a:endParaRPr lang="en-US" sz="950" dirty="0"/>
          </a:p>
        </p:txBody>
      </p:sp>
      <p:sp>
        <p:nvSpPr>
          <p:cNvPr id="90" name="Shape 88"/>
          <p:cNvSpPr/>
          <p:nvPr/>
        </p:nvSpPr>
        <p:spPr>
          <a:xfrm>
            <a:off x="2953512" y="6190488"/>
            <a:ext cx="4206240" cy="329184"/>
          </a:xfrm>
          <a:prstGeom prst="rect">
            <a:avLst/>
          </a:prstGeom>
          <a:solidFill>
            <a:srgbClr val="FFFFFF"/>
          </a:solidFill>
          <a:ln/>
        </p:spPr>
      </p:sp>
      <p:sp>
        <p:nvSpPr>
          <p:cNvPr id="91" name="Text 89"/>
          <p:cNvSpPr/>
          <p:nvPr/>
        </p:nvSpPr>
        <p:spPr>
          <a:xfrm>
            <a:off x="3026664" y="6217920"/>
            <a:ext cx="409651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MEDIUM — LLM monitoring expanding</a:t>
            </a:r>
            <a:endParaRPr lang="en-US" sz="950" dirty="0"/>
          </a:p>
        </p:txBody>
      </p:sp>
      <p:sp>
        <p:nvSpPr>
          <p:cNvPr id="92" name="Shape 90"/>
          <p:cNvSpPr/>
          <p:nvPr/>
        </p:nvSpPr>
        <p:spPr>
          <a:xfrm>
            <a:off x="7187184" y="6190488"/>
            <a:ext cx="5212080" cy="329184"/>
          </a:xfrm>
          <a:prstGeom prst="rect">
            <a:avLst/>
          </a:prstGeom>
          <a:solidFill>
            <a:srgbClr val="FFFFFF"/>
          </a:solidFill>
          <a:ln/>
        </p:spPr>
      </p:sp>
      <p:sp>
        <p:nvSpPr>
          <p:cNvPr id="93" name="Text 91"/>
          <p:cNvSpPr/>
          <p:nvPr/>
        </p:nvSpPr>
        <p:spPr>
          <a:xfrm>
            <a:off x="7260336" y="6217920"/>
            <a:ext cx="5102352" cy="27432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12–24 mo technical advantage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1F3864"/>
          </a:solidFill>
          <a:ln/>
        </p:spPr>
      </p:sp>
      <p:sp>
        <p:nvSpPr>
          <p:cNvPr id="3" name="Text 1"/>
          <p:cNvSpPr/>
          <p:nvPr/>
        </p:nvSpPr>
        <p:spPr>
          <a:xfrm>
            <a:off x="457200" y="182880"/>
            <a:ext cx="10972800" cy="65836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Wallaroo.AI — Strategic Assessment for Vex</a:t>
            </a:r>
            <a:endParaRPr lang="en-US" sz="2800" dirty="0"/>
          </a:p>
        </p:txBody>
      </p:sp>
      <p:sp>
        <p:nvSpPr>
          <p:cNvPr id="4" name="Shape 2"/>
          <p:cNvSpPr/>
          <p:nvPr/>
        </p:nvSpPr>
        <p:spPr>
          <a:xfrm>
            <a:off x="365760" y="1097280"/>
            <a:ext cx="11430000" cy="1261872"/>
          </a:xfrm>
          <a:prstGeom prst="rect">
            <a:avLst/>
          </a:prstGeom>
          <a:solidFill>
            <a:srgbClr val="F0FDF4"/>
          </a:solidFill>
          <a:ln/>
          <a:effectLst>
            <a:outerShdw sx="100000" sy="100000" kx="0" ky="0" algn="bl" rotWithShape="0" blurRad="63500" dist="25400" dir="8100000">
              <a:srgbClr val="000000">
                <a:alpha val="10000"/>
              </a:srgbClr>
            </a:outerShdw>
          </a:effectLst>
        </p:spPr>
      </p:sp>
      <p:sp>
        <p:nvSpPr>
          <p:cNvPr id="5" name="Shape 3"/>
          <p:cNvSpPr/>
          <p:nvPr/>
        </p:nvSpPr>
        <p:spPr>
          <a:xfrm>
            <a:off x="365760" y="1097280"/>
            <a:ext cx="73152" cy="1261872"/>
          </a:xfrm>
          <a:prstGeom prst="rect">
            <a:avLst/>
          </a:prstGeom>
          <a:solidFill>
            <a:srgbClr val="15803D"/>
          </a:solidFill>
          <a:ln/>
        </p:spPr>
      </p:sp>
      <p:sp>
        <p:nvSpPr>
          <p:cNvPr id="6" name="Shape 4"/>
          <p:cNvSpPr/>
          <p:nvPr/>
        </p:nvSpPr>
        <p:spPr>
          <a:xfrm>
            <a:off x="502920" y="1170432"/>
            <a:ext cx="1645920" cy="292608"/>
          </a:xfrm>
          <a:prstGeom prst="rect">
            <a:avLst/>
          </a:prstGeom>
          <a:solidFill>
            <a:srgbClr val="15803D"/>
          </a:solidFill>
          <a:ln/>
        </p:spPr>
      </p:sp>
      <p:sp>
        <p:nvSpPr>
          <p:cNvPr id="7" name="Text 5"/>
          <p:cNvSpPr/>
          <p:nvPr/>
        </p:nvSpPr>
        <p:spPr>
          <a:xfrm>
            <a:off x="502920" y="1170432"/>
            <a:ext cx="16459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COMPLEMENTARY</a:t>
            </a:r>
            <a:endParaRPr lang="en-US" sz="900" dirty="0"/>
          </a:p>
        </p:txBody>
      </p:sp>
      <p:sp>
        <p:nvSpPr>
          <p:cNvPr id="8" name="Text 6"/>
          <p:cNvSpPr/>
          <p:nvPr/>
        </p:nvSpPr>
        <p:spPr>
          <a:xfrm>
            <a:off x="2331720" y="1170432"/>
            <a:ext cx="9418320" cy="347472"/>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Wallaroo &amp; Vex are Complementary — Not Competitors</a:t>
            </a:r>
            <a:endParaRPr lang="en-US" sz="1300" dirty="0"/>
          </a:p>
        </p:txBody>
      </p:sp>
      <p:sp>
        <p:nvSpPr>
          <p:cNvPr id="9" name="Text 7"/>
          <p:cNvSpPr/>
          <p:nvPr/>
        </p:nvSpPr>
        <p:spPr>
          <a:xfrm>
            <a:off x="594360" y="1609344"/>
            <a:ext cx="11155680" cy="69494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Wallaroo operates at the infrastructure layer (deploy, serve, orchestrate). Vex operates at the behavioral safety layer (validate, correct, guard). A customer deploying agents on Wallaroo still needs Vex to ensure those agents behave correctly at runtime. The two can — and should — co-exist in the same stack.</a:t>
            </a:r>
            <a:endParaRPr lang="en-US" sz="1050" dirty="0"/>
          </a:p>
        </p:txBody>
      </p:sp>
      <p:sp>
        <p:nvSpPr>
          <p:cNvPr id="10" name="Shape 8"/>
          <p:cNvSpPr/>
          <p:nvPr/>
        </p:nvSpPr>
        <p:spPr>
          <a:xfrm>
            <a:off x="365760" y="2487168"/>
            <a:ext cx="11430000" cy="1261872"/>
          </a:xfrm>
          <a:prstGeom prst="rect">
            <a:avLst/>
          </a:prstGeom>
          <a:solidFill>
            <a:srgbClr val="EFF6FF"/>
          </a:solidFill>
          <a:ln/>
          <a:effectLst>
            <a:outerShdw sx="100000" sy="100000" kx="0" ky="0" algn="bl" rotWithShape="0" blurRad="63500" dist="25400" dir="8100000">
              <a:srgbClr val="000000">
                <a:alpha val="10000"/>
              </a:srgbClr>
            </a:outerShdw>
          </a:effectLst>
        </p:spPr>
      </p:sp>
      <p:sp>
        <p:nvSpPr>
          <p:cNvPr id="11" name="Shape 9"/>
          <p:cNvSpPr/>
          <p:nvPr/>
        </p:nvSpPr>
        <p:spPr>
          <a:xfrm>
            <a:off x="365760" y="2487168"/>
            <a:ext cx="73152" cy="1261872"/>
          </a:xfrm>
          <a:prstGeom prst="rect">
            <a:avLst/>
          </a:prstGeom>
          <a:solidFill>
            <a:srgbClr val="2E75B6"/>
          </a:solidFill>
          <a:ln/>
        </p:spPr>
      </p:sp>
      <p:sp>
        <p:nvSpPr>
          <p:cNvPr id="12" name="Shape 10"/>
          <p:cNvSpPr/>
          <p:nvPr/>
        </p:nvSpPr>
        <p:spPr>
          <a:xfrm>
            <a:off x="502920" y="2560320"/>
            <a:ext cx="1645920" cy="292608"/>
          </a:xfrm>
          <a:prstGeom prst="rect">
            <a:avLst/>
          </a:prstGeom>
          <a:solidFill>
            <a:srgbClr val="2E75B6"/>
          </a:solidFill>
          <a:ln/>
        </p:spPr>
      </p:sp>
      <p:sp>
        <p:nvSpPr>
          <p:cNvPr id="13" name="Text 11"/>
          <p:cNvSpPr/>
          <p:nvPr/>
        </p:nvSpPr>
        <p:spPr>
          <a:xfrm>
            <a:off x="502920" y="2560320"/>
            <a:ext cx="16459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OPPORTUNITY</a:t>
            </a:r>
            <a:endParaRPr lang="en-US" sz="900" dirty="0"/>
          </a:p>
        </p:txBody>
      </p:sp>
      <p:sp>
        <p:nvSpPr>
          <p:cNvPr id="14" name="Text 12"/>
          <p:cNvSpPr/>
          <p:nvPr/>
        </p:nvSpPr>
        <p:spPr>
          <a:xfrm>
            <a:off x="2331720" y="2560320"/>
            <a:ext cx="9418320" cy="347472"/>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Wallaroo is the #1 Co-Sell Partner Candidate for Vex</a:t>
            </a:r>
            <a:endParaRPr lang="en-US" sz="1300" dirty="0"/>
          </a:p>
        </p:txBody>
      </p:sp>
      <p:sp>
        <p:nvSpPr>
          <p:cNvPr id="15" name="Text 13"/>
          <p:cNvSpPr/>
          <p:nvPr/>
        </p:nvSpPr>
        <p:spPr>
          <a:xfrm>
            <a:off x="594360" y="2999232"/>
            <a:ext cx="11155680" cy="69494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Wallaroo brings enterprise AI deployment infrastructure to exactly the customers Vex needs: teams running ML and agent workloads at scale in production. Vex fills the gap Wallaroo explicitly does not address. A joint go-to-market or integration partnership is a high-priority opportunity.</a:t>
            </a:r>
            <a:endParaRPr lang="en-US" sz="1050" dirty="0"/>
          </a:p>
        </p:txBody>
      </p:sp>
      <p:sp>
        <p:nvSpPr>
          <p:cNvPr id="16" name="Shape 14"/>
          <p:cNvSpPr/>
          <p:nvPr/>
        </p:nvSpPr>
        <p:spPr>
          <a:xfrm>
            <a:off x="365760" y="3877056"/>
            <a:ext cx="11430000" cy="1261872"/>
          </a:xfrm>
          <a:prstGeom prst="rect">
            <a:avLst/>
          </a:prstGeom>
          <a:solidFill>
            <a:srgbClr val="FFF5F5"/>
          </a:solidFill>
          <a:ln/>
          <a:effectLst>
            <a:outerShdw sx="100000" sy="100000" kx="0" ky="0" algn="bl" rotWithShape="0" blurRad="63500" dist="25400" dir="8100000">
              <a:srgbClr val="000000">
                <a:alpha val="10000"/>
              </a:srgbClr>
            </a:outerShdw>
          </a:effectLst>
        </p:spPr>
      </p:sp>
      <p:sp>
        <p:nvSpPr>
          <p:cNvPr id="17" name="Shape 15"/>
          <p:cNvSpPr/>
          <p:nvPr/>
        </p:nvSpPr>
        <p:spPr>
          <a:xfrm>
            <a:off x="365760" y="3877056"/>
            <a:ext cx="73152" cy="1261872"/>
          </a:xfrm>
          <a:prstGeom prst="rect">
            <a:avLst/>
          </a:prstGeom>
          <a:solidFill>
            <a:srgbClr val="D85A30"/>
          </a:solidFill>
          <a:ln/>
        </p:spPr>
      </p:sp>
      <p:sp>
        <p:nvSpPr>
          <p:cNvPr id="18" name="Shape 16"/>
          <p:cNvSpPr/>
          <p:nvPr/>
        </p:nvSpPr>
        <p:spPr>
          <a:xfrm>
            <a:off x="502920" y="3950208"/>
            <a:ext cx="1645920" cy="292608"/>
          </a:xfrm>
          <a:prstGeom prst="rect">
            <a:avLst/>
          </a:prstGeom>
          <a:solidFill>
            <a:srgbClr val="D85A30"/>
          </a:solidFill>
          <a:ln/>
        </p:spPr>
      </p:sp>
      <p:sp>
        <p:nvSpPr>
          <p:cNvPr id="19" name="Text 17"/>
          <p:cNvSpPr/>
          <p:nvPr/>
        </p:nvSpPr>
        <p:spPr>
          <a:xfrm>
            <a:off x="502920" y="3950208"/>
            <a:ext cx="16459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THREAT: MEDIUM</a:t>
            </a:r>
            <a:endParaRPr lang="en-US" sz="900" dirty="0"/>
          </a:p>
        </p:txBody>
      </p:sp>
      <p:sp>
        <p:nvSpPr>
          <p:cNvPr id="20" name="Text 18"/>
          <p:cNvSpPr/>
          <p:nvPr/>
        </p:nvSpPr>
        <p:spPr>
          <a:xfrm>
            <a:off x="2331720" y="3950208"/>
            <a:ext cx="9418320" cy="347472"/>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Watch the LLM Monitoring Roadmap</a:t>
            </a:r>
            <a:endParaRPr lang="en-US" sz="1300" dirty="0"/>
          </a:p>
        </p:txBody>
      </p:sp>
      <p:sp>
        <p:nvSpPr>
          <p:cNvPr id="21" name="Text 19"/>
          <p:cNvSpPr/>
          <p:nvPr/>
        </p:nvSpPr>
        <p:spPr>
          <a:xfrm>
            <a:off x="594360" y="4389120"/>
            <a:ext cx="11155680" cy="69494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Wallaroo already includes basic LLM drift detection in Team/Enterprise tiers. If it deepens into agentic correction (trajectory scoring, multi-turn coherence, cascaded repair), it becomes a real threat. M12 (Microsoft) backing means capital is available to accelerate. Monitor Wallaroo's product roadmap closely — any "agentic safety" announcement is a signal.</a:t>
            </a:r>
            <a:endParaRPr lang="en-US" sz="1050" dirty="0"/>
          </a:p>
        </p:txBody>
      </p:sp>
      <p:sp>
        <p:nvSpPr>
          <p:cNvPr id="22" name="Shape 20"/>
          <p:cNvSpPr/>
          <p:nvPr/>
        </p:nvSpPr>
        <p:spPr>
          <a:xfrm>
            <a:off x="365760" y="5266944"/>
            <a:ext cx="11430000" cy="1261872"/>
          </a:xfrm>
          <a:prstGeom prst="rect">
            <a:avLst/>
          </a:prstGeom>
          <a:solidFill>
            <a:srgbClr val="FFFBEB"/>
          </a:solidFill>
          <a:ln/>
          <a:effectLst>
            <a:outerShdw sx="100000" sy="100000" kx="0" ky="0" algn="bl" rotWithShape="0" blurRad="63500" dist="25400" dir="8100000">
              <a:srgbClr val="000000">
                <a:alpha val="10000"/>
              </a:srgbClr>
            </a:outerShdw>
          </a:effectLst>
        </p:spPr>
      </p:sp>
      <p:sp>
        <p:nvSpPr>
          <p:cNvPr id="23" name="Shape 21"/>
          <p:cNvSpPr/>
          <p:nvPr/>
        </p:nvSpPr>
        <p:spPr>
          <a:xfrm>
            <a:off x="365760" y="5266944"/>
            <a:ext cx="73152" cy="1261872"/>
          </a:xfrm>
          <a:prstGeom prst="rect">
            <a:avLst/>
          </a:prstGeom>
          <a:solidFill>
            <a:srgbClr val="F39C12"/>
          </a:solidFill>
          <a:ln/>
        </p:spPr>
      </p:sp>
      <p:sp>
        <p:nvSpPr>
          <p:cNvPr id="24" name="Shape 22"/>
          <p:cNvSpPr/>
          <p:nvPr/>
        </p:nvSpPr>
        <p:spPr>
          <a:xfrm>
            <a:off x="502920" y="5340096"/>
            <a:ext cx="1645920" cy="292608"/>
          </a:xfrm>
          <a:prstGeom prst="rect">
            <a:avLst/>
          </a:prstGeom>
          <a:solidFill>
            <a:srgbClr val="F39C12"/>
          </a:solidFill>
          <a:ln/>
        </p:spPr>
      </p:sp>
      <p:sp>
        <p:nvSpPr>
          <p:cNvPr id="25" name="Text 23"/>
          <p:cNvSpPr/>
          <p:nvPr/>
        </p:nvSpPr>
        <p:spPr>
          <a:xfrm>
            <a:off x="502920" y="5340096"/>
            <a:ext cx="164592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CAPITAL RISK</a:t>
            </a:r>
            <a:endParaRPr lang="en-US" sz="900" dirty="0"/>
          </a:p>
        </p:txBody>
      </p:sp>
      <p:sp>
        <p:nvSpPr>
          <p:cNvPr id="26" name="Text 24"/>
          <p:cNvSpPr/>
          <p:nvPr/>
        </p:nvSpPr>
        <p:spPr>
          <a:xfrm>
            <a:off x="2331720" y="5340096"/>
            <a:ext cx="9418320" cy="347472"/>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Wallaroo's $34.4M vs. Vex's Undisclosed Funding</a:t>
            </a:r>
            <a:endParaRPr lang="en-US" sz="1300" dirty="0"/>
          </a:p>
        </p:txBody>
      </p:sp>
      <p:sp>
        <p:nvSpPr>
          <p:cNvPr id="27" name="Text 25"/>
          <p:cNvSpPr/>
          <p:nvPr/>
        </p:nvSpPr>
        <p:spPr>
          <a:xfrm>
            <a:off x="594360" y="5779008"/>
            <a:ext cx="11155680" cy="69494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Wallaroo has 7x–10x more capital than Vex likely has. This means it can absorb longer sales cycles, build enterprise integrations, and wait out market cycles. Vex must close customer proof points and a funding round before Wallaroo (or Galileo's $68M / Braintrust's $121M) can replicate the correction cascade at scale.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Wallaroo.AI — Competitive Profile Addendum</dc:title>
  <dc:subject>PptxGenJS Presentation</dc:subject>
  <dc:creator>PptxGenJS</dc:creator>
  <cp:lastModifiedBy>PptxGenJS</cp:lastModifiedBy>
  <cp:revision>1</cp:revision>
  <dcterms:created xsi:type="dcterms:W3CDTF">2026-03-12T20:49:48Z</dcterms:created>
  <dcterms:modified xsi:type="dcterms:W3CDTF">2026-03-12T20:49:48Z</dcterms:modified>
</cp:coreProperties>
</file>